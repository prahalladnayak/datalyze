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3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C8D0E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C8D0E0"/>
                </a:solidFill>
                <a:latin typeface="Arial"/>
              </a:rPr>
              <a:t>Where Time Goes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Time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4D6A"/>
              </a:solidFill>
              <a:effectLst/>
            </c:spPr>
          </c:dPt>
          <c:dPt>
            <c:idx val="1"/>
            <c:bubble3D val="0"/>
            <c:spPr>
              <a:solidFill>
                <a:srgbClr val="00E5A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Data Prep</c:v>
                </c:pt>
                <c:pt idx="1">
                  <c:v>Modeling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C8D0E0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11827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00E5A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Epoch 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62</c:v>
                </c:pt>
                <c:pt idx="1">
                  <c:v>74</c:v>
                </c:pt>
                <c:pt idx="2">
                  <c:v>82</c:v>
                </c:pt>
                <c:pt idx="3">
                  <c:v>89</c:v>
                </c:pt>
                <c:pt idx="4">
                  <c:v>94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709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06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70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D1829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C8D0E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C8D0E0"/>
                </a:solidFill>
                <a:latin typeface="Arial"/>
              </a:rPr>
              <a:t>Monthly Recurring Revenue Growth (₹K)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MRR (₹K)</c:v>
                </c:pt>
              </c:strCache>
            </c:strRef>
          </c:tx>
          <c:spPr>
            <a:solidFill>
              <a:srgbClr val="00E5A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  <c:pt idx="6">
                    <c:v>M7</c:v>
                  </c:pt>
                  <c:pt idx="7">
                    <c:v>M8</c:v>
                  </c:pt>
                  <c:pt idx="8">
                    <c:v>M9</c:v>
                  </c:pt>
                  <c:pt idx="9">
                    <c:v>M10</c:v>
                  </c:pt>
                  <c:pt idx="10">
                    <c:v>M11</c:v>
                  </c:pt>
                  <c:pt idx="11">
                    <c:v>M12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12</c:v>
                </c:pt>
                <c:pt idx="1">
                  <c:v>22</c:v>
                </c:pt>
                <c:pt idx="2">
                  <c:v>35</c:v>
                </c:pt>
                <c:pt idx="3">
                  <c:v>52</c:v>
                </c:pt>
                <c:pt idx="4">
                  <c:v>74</c:v>
                </c:pt>
                <c:pt idx="5">
                  <c:v>102</c:v>
                </c:pt>
                <c:pt idx="6">
                  <c:v>138</c:v>
                </c:pt>
                <c:pt idx="7">
                  <c:v>180</c:v>
                </c:pt>
                <c:pt idx="8">
                  <c:v>230</c:v>
                </c:pt>
                <c:pt idx="9">
                  <c:v>288</c:v>
                </c:pt>
                <c:pt idx="10">
                  <c:v>355</c:v>
                </c:pt>
                <c:pt idx="11">
                  <c:v>430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709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06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70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1182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"/>
          </a:xfrm>
          <a:prstGeom prst="rect">
            <a:avLst/>
          </a:prstGeom>
          <a:solidFill>
            <a:srgbClr val="1E3060">
              <a:alpha val="30000"/>
            </a:srgbClr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0"/>
            <a:ext cx="9144000" cy="4572"/>
          </a:xfrm>
          <a:prstGeom prst="rect">
            <a:avLst/>
          </a:prstGeom>
          <a:solidFill>
            <a:srgbClr val="1E3060">
              <a:alpha val="30000"/>
            </a:srgbClr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194560"/>
            <a:ext cx="9144000" cy="4572"/>
          </a:xfrm>
          <a:prstGeom prst="rect">
            <a:avLst/>
          </a:prstGeom>
          <a:solidFill>
            <a:srgbClr val="1E3060">
              <a:alpha val="30000"/>
            </a:srgbClr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3291840"/>
            <a:ext cx="9144000" cy="4572"/>
          </a:xfrm>
          <a:prstGeom prst="rect">
            <a:avLst/>
          </a:prstGeom>
          <a:solidFill>
            <a:srgbClr val="1E3060">
              <a:alpha val="30000"/>
            </a:srgbClr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389120"/>
            <a:ext cx="9144000" cy="4572"/>
          </a:xfrm>
          <a:prstGeom prst="rect">
            <a:avLst/>
          </a:prstGeom>
          <a:solidFill>
            <a:srgbClr val="1E3060">
              <a:alpha val="30000"/>
            </a:srgbClr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0" y="457200"/>
            <a:ext cx="3657600" cy="3657600"/>
          </a:xfrm>
          <a:prstGeom prst="oval">
            <a:avLst/>
          </a:prstGeom>
          <a:solidFill>
            <a:srgbClr val="7B61FF">
              <a:alpha val="12000"/>
            </a:srgbClr>
          </a:solidFill>
          <a:ln w="12700">
            <a:solidFill>
              <a:srgbClr val="7B61FF"/>
            </a:solidFill>
            <a:prstDash val="solid"/>
          </a:ln>
          <a:effectLst>
            <a:outerShdw sx="100000" sy="100000" kx="0" ky="0" algn="bl" rotWithShape="0" blurRad="762000" dist="50800" dir="2700000">
              <a:srgbClr val="7B61FF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0" y="914400"/>
            <a:ext cx="2194560" cy="2194560"/>
          </a:xfrm>
          <a:prstGeom prst="oval">
            <a:avLst/>
          </a:prstGeom>
          <a:solidFill>
            <a:srgbClr val="00E5A0">
              <a:alpha val="8000"/>
            </a:srgbClr>
          </a:solidFill>
          <a:ln w="12700">
            <a:solidFill>
              <a:srgbClr val="00E5A0"/>
            </a:solidFill>
            <a:prstDash val="solid"/>
          </a:ln>
          <a:effectLst>
            <a:outerShdw sx="100000" sy="100000" kx="0" ky="0" algn="bl" rotWithShape="0" blurRad="508000" dist="50800" dir="2700000">
              <a:srgbClr val="00E5A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371600" y="640080"/>
            <a:ext cx="6400800" cy="3749040"/>
          </a:xfrm>
          <a:prstGeom prst="roundRect">
            <a:avLst>
              <a:gd name="adj" fmla="val 2927"/>
            </a:avLst>
          </a:prstGeom>
          <a:solidFill>
            <a:srgbClr val="1A2340">
              <a:alpha val="20000"/>
            </a:srgbClr>
          </a:solidFill>
          <a:ln w="12700">
            <a:solidFill>
              <a:srgbClr val="2A3F6A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71600" y="9144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spc="400" kern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DATALYZE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1371600" y="17373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Empowering ML with Intelligent Data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200400" y="2331720"/>
            <a:ext cx="2743200" cy="36576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0" y="2468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Data to Production-Ready Models — Without Writing Code.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749040" y="3291840"/>
            <a:ext cx="109728" cy="109728"/>
          </a:xfrm>
          <a:prstGeom prst="oval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60520" y="3291840"/>
            <a:ext cx="109728" cy="109728"/>
          </a:xfrm>
          <a:prstGeom prst="oval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0" y="3291840"/>
            <a:ext cx="109728" cy="109728"/>
          </a:xfrm>
          <a:prstGeom prst="oval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83480" y="3291840"/>
            <a:ext cx="109728" cy="109728"/>
          </a:xfrm>
          <a:prstGeom prst="oval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94960" y="3291840"/>
            <a:ext cx="109728" cy="109728"/>
          </a:xfrm>
          <a:prstGeom prst="oval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0" y="39776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Datalyze  |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"/>
          </a:xfrm>
          <a:prstGeom prst="rect">
            <a:avLst/>
          </a:prstGeom>
          <a:solidFill>
            <a:srgbClr val="1E3060">
              <a:alpha val="30000"/>
            </a:srgbClr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0"/>
            <a:ext cx="9144000" cy="4572"/>
          </a:xfrm>
          <a:prstGeom prst="rect">
            <a:avLst/>
          </a:prstGeom>
          <a:solidFill>
            <a:srgbClr val="1E3060">
              <a:alpha val="30000"/>
            </a:srgbClr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194560"/>
            <a:ext cx="9144000" cy="4572"/>
          </a:xfrm>
          <a:prstGeom prst="rect">
            <a:avLst/>
          </a:prstGeom>
          <a:solidFill>
            <a:srgbClr val="1E3060">
              <a:alpha val="30000"/>
            </a:srgbClr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3291840"/>
            <a:ext cx="9144000" cy="4572"/>
          </a:xfrm>
          <a:prstGeom prst="rect">
            <a:avLst/>
          </a:prstGeom>
          <a:solidFill>
            <a:srgbClr val="1E3060">
              <a:alpha val="30000"/>
            </a:srgbClr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389120"/>
            <a:ext cx="9144000" cy="4572"/>
          </a:xfrm>
          <a:prstGeom prst="rect">
            <a:avLst/>
          </a:prstGeom>
          <a:solidFill>
            <a:srgbClr val="1E3060">
              <a:alpha val="30000"/>
            </a:srgbClr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82880"/>
            <a:ext cx="1371600" cy="256032"/>
          </a:xfrm>
          <a:prstGeom prst="roundRect">
            <a:avLst>
              <a:gd name="adj" fmla="val 25000"/>
            </a:avLst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828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F1E"/>
                </a:solidFill>
              </a:rPr>
              <a:t>THE PROBLEM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5486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Bottleneck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320040" y="1325880"/>
            <a:ext cx="4389120" cy="3246120"/>
          </a:xfrm>
          <a:prstGeom prst="roundRect">
            <a:avLst>
              <a:gd name="adj" fmla="val 3380"/>
            </a:avLst>
          </a:prstGeom>
          <a:solidFill>
            <a:srgbClr val="1A2340">
              <a:alpha val="20000"/>
            </a:srgbClr>
          </a:solidFill>
          <a:ln w="12700">
            <a:solidFill>
              <a:srgbClr val="2A3F6A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1572768"/>
            <a:ext cx="109728" cy="109728"/>
          </a:xfrm>
          <a:prstGeom prst="oval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1481328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scattered, incomplete, and noisy.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2322576"/>
            <a:ext cx="109728" cy="109728"/>
          </a:xfrm>
          <a:prstGeom prst="oval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231136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of data scientist time is wasted finding and cleaning data.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3072384"/>
            <a:ext cx="109728" cy="109728"/>
          </a:xfrm>
          <a:prstGeom prst="oval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980944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expensive infrastructure and expert coding skills.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3822192"/>
            <a:ext cx="109728" cy="109728"/>
          </a:xfrm>
          <a:prstGeom prst="oval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730752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unified tooling slows down AI adoption significantly.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4663440"/>
            <a:ext cx="4389120" cy="384048"/>
          </a:xfrm>
          <a:prstGeom prst="roundRect">
            <a:avLst>
              <a:gd name="adj" fmla="val 28571"/>
            </a:avLst>
          </a:prstGeom>
          <a:solidFill>
            <a:srgbClr val="1A2340">
              <a:alpha val="25000"/>
            </a:srgbClr>
          </a:solidFill>
          <a:ln w="12700">
            <a:solidFill>
              <a:srgbClr val="2A3F6A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4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11480" y="466344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of time spent on data prep  ·  Only 20% on actual modeling</a:t>
            </a:r>
            <a:endParaRPr lang="en-US" sz="10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4937760" y="548640"/>
          <a:ext cx="384048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"/>
          </a:xfrm>
          <a:prstGeom prst="rect">
            <a:avLst/>
          </a:prstGeom>
          <a:solidFill>
            <a:srgbClr val="1E3060">
              <a:alpha val="30000"/>
            </a:srgbClr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0"/>
            <a:ext cx="9144000" cy="4572"/>
          </a:xfrm>
          <a:prstGeom prst="rect">
            <a:avLst/>
          </a:prstGeom>
          <a:solidFill>
            <a:srgbClr val="1E3060">
              <a:alpha val="30000"/>
            </a:srgbClr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194560"/>
            <a:ext cx="9144000" cy="4572"/>
          </a:xfrm>
          <a:prstGeom prst="rect">
            <a:avLst/>
          </a:prstGeom>
          <a:solidFill>
            <a:srgbClr val="1E3060">
              <a:alpha val="30000"/>
            </a:srgbClr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3291840"/>
            <a:ext cx="9144000" cy="4572"/>
          </a:xfrm>
          <a:prstGeom prst="rect">
            <a:avLst/>
          </a:prstGeom>
          <a:solidFill>
            <a:srgbClr val="1E3060">
              <a:alpha val="30000"/>
            </a:srgbClr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389120"/>
            <a:ext cx="9144000" cy="4572"/>
          </a:xfrm>
          <a:prstGeom prst="rect">
            <a:avLst/>
          </a:prstGeom>
          <a:solidFill>
            <a:srgbClr val="1E3060">
              <a:alpha val="30000"/>
            </a:srgbClr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82880"/>
            <a:ext cx="1371600" cy="256032"/>
          </a:xfrm>
          <a:prstGeom prst="roundRect">
            <a:avLst>
              <a:gd name="adj" fmla="val 25000"/>
            </a:avLst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828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F1E"/>
                </a:solidFill>
              </a:rPr>
              <a:t>MARKET GAP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5486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in the Market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274320" y="1280160"/>
            <a:ext cx="2743200" cy="3383280"/>
          </a:xfrm>
          <a:prstGeom prst="roundRect">
            <a:avLst>
              <a:gd name="adj" fmla="val 4000"/>
            </a:avLst>
          </a:prstGeom>
          <a:solidFill>
            <a:srgbClr val="1A2340">
              <a:alpha val="22000"/>
            </a:srgbClr>
          </a:solidFill>
          <a:ln w="12700">
            <a:solidFill>
              <a:srgbClr val="2A3F6A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371600" y="1371600"/>
            <a:ext cx="548640" cy="548640"/>
          </a:xfrm>
          <a:prstGeom prst="oval">
            <a:avLst/>
          </a:prstGeom>
          <a:solidFill>
            <a:srgbClr val="FF4D6A">
              <a:alpha val="80000"/>
            </a:srgbClr>
          </a:solidFill>
          <a:ln w="25400">
            <a:solidFill>
              <a:srgbClr val="FF4D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4D6A"/>
                </a:solidFill>
              </a:rPr>
              <a:t>✕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20116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4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Tools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" y="251460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heavy Python/R coding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11480" y="297180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Steep learning curve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11480" y="342900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pipeline setup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11480" y="388620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to first model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0" y="1280160"/>
            <a:ext cx="2743200" cy="3383280"/>
          </a:xfrm>
          <a:prstGeom prst="roundRect">
            <a:avLst>
              <a:gd name="adj" fmla="val 4000"/>
            </a:avLst>
          </a:prstGeom>
          <a:solidFill>
            <a:srgbClr val="1A2340">
              <a:alpha val="22000"/>
            </a:srgbClr>
          </a:solidFill>
          <a:ln w="12700">
            <a:solidFill>
              <a:srgbClr val="2A3F6A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297680" y="1371600"/>
            <a:ext cx="548640" cy="548640"/>
          </a:xfrm>
          <a:prstGeom prst="oval">
            <a:avLst/>
          </a:prstGeom>
          <a:solidFill>
            <a:srgbClr val="FFD166">
              <a:alpha val="80000"/>
            </a:srgbClr>
          </a:solidFill>
          <a:ln w="25400">
            <a:solidFill>
              <a:srgbClr val="FFD1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166"/>
                </a:solidFill>
              </a:rPr>
              <a:t>✕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291840" y="20116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Repositories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337560" y="251460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files only (Kaggle/UCI)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337560" y="297180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cleaning built-in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337560" y="342900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preprocessing tools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337560" y="388620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EDA required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126480" y="1280160"/>
            <a:ext cx="2743200" cy="3383280"/>
          </a:xfrm>
          <a:prstGeom prst="roundRect">
            <a:avLst>
              <a:gd name="adj" fmla="val 4000"/>
            </a:avLst>
          </a:prstGeom>
          <a:solidFill>
            <a:srgbClr val="1A2340">
              <a:alpha val="22000"/>
            </a:srgbClr>
          </a:solidFill>
          <a:ln w="12700">
            <a:solidFill>
              <a:srgbClr val="2A3F6A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4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223760" y="1371600"/>
            <a:ext cx="548640" cy="548640"/>
          </a:xfrm>
          <a:prstGeom prst="oval">
            <a:avLst/>
          </a:prstGeom>
          <a:solidFill>
            <a:srgbClr val="FF8C42">
              <a:alpha val="80000"/>
            </a:srgbClr>
          </a:solidFill>
          <a:ln w="25400">
            <a:solidFill>
              <a:srgbClr val="FF8C4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2376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8C42"/>
                </a:solidFill>
              </a:rPr>
              <a:t>✕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217920" y="20116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Giants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263640" y="251460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 (AWS/GCP/Azure)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263640" y="297180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pricing models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263640" y="342900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DevOps expertise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263640" y="388620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beginner-friendly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65760" y="4663440"/>
            <a:ext cx="8412480" cy="347472"/>
          </a:xfrm>
          <a:prstGeom prst="roundRect">
            <a:avLst>
              <a:gd name="adj" fmla="val 31579"/>
            </a:avLst>
          </a:prstGeom>
          <a:solidFill>
            <a:srgbClr val="1A2340">
              <a:alpha val="25000"/>
            </a:srgbClr>
          </a:solidFill>
          <a:ln w="12700">
            <a:solidFill>
              <a:srgbClr val="2A3F6A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4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0080" y="4718304"/>
            <a:ext cx="201168" cy="201168"/>
          </a:xfrm>
          <a:prstGeom prst="oval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60120" y="4663440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single, affordable, all-in-one solution.  Datalyze fills that gap.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"/>
          </a:xfrm>
          <a:prstGeom prst="rect">
            <a:avLst/>
          </a:prstGeom>
          <a:solidFill>
            <a:srgbClr val="1E3060">
              <a:alpha val="30000"/>
            </a:srgbClr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0"/>
            <a:ext cx="9144000" cy="4572"/>
          </a:xfrm>
          <a:prstGeom prst="rect">
            <a:avLst/>
          </a:prstGeom>
          <a:solidFill>
            <a:srgbClr val="1E3060">
              <a:alpha val="30000"/>
            </a:srgbClr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194560"/>
            <a:ext cx="9144000" cy="4572"/>
          </a:xfrm>
          <a:prstGeom prst="rect">
            <a:avLst/>
          </a:prstGeom>
          <a:solidFill>
            <a:srgbClr val="1E3060">
              <a:alpha val="30000"/>
            </a:srgbClr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3291840"/>
            <a:ext cx="9144000" cy="4572"/>
          </a:xfrm>
          <a:prstGeom prst="rect">
            <a:avLst/>
          </a:prstGeom>
          <a:solidFill>
            <a:srgbClr val="1E3060">
              <a:alpha val="30000"/>
            </a:srgbClr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389120"/>
            <a:ext cx="9144000" cy="4572"/>
          </a:xfrm>
          <a:prstGeom prst="rect">
            <a:avLst/>
          </a:prstGeom>
          <a:solidFill>
            <a:srgbClr val="1E3060">
              <a:alpha val="30000"/>
            </a:srgbClr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0" y="457200"/>
            <a:ext cx="4572000" cy="4572000"/>
          </a:xfrm>
          <a:prstGeom prst="oval">
            <a:avLst/>
          </a:prstGeom>
          <a:solidFill>
            <a:srgbClr val="00E5A0">
              <a:alpha val="7000"/>
            </a:srgbClr>
          </a:solidFill>
          <a:ln w="12700">
            <a:solidFill>
              <a:srgbClr val="00E5A0"/>
            </a:solidFill>
            <a:prstDash val="solid"/>
          </a:ln>
          <a:effectLst>
            <a:outerShdw sx="100000" sy="100000" kx="0" ky="0" algn="bl" rotWithShape="0" blurRad="1016000" dist="50800" dir="2700000">
              <a:srgbClr val="00E5A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82880"/>
            <a:ext cx="1371600" cy="256032"/>
          </a:xfrm>
          <a:prstGeom prst="roundRect">
            <a:avLst>
              <a:gd name="adj" fmla="val 25000"/>
            </a:avLst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828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F1E"/>
                </a:solidFill>
              </a:rPr>
              <a:t>SOLUTION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54864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Datalyze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274320" y="1325880"/>
            <a:ext cx="4754880" cy="3566160"/>
          </a:xfrm>
          <a:prstGeom prst="roundRect">
            <a:avLst>
              <a:gd name="adj" fmla="val 3077"/>
            </a:avLst>
          </a:prstGeom>
          <a:solidFill>
            <a:srgbClr val="1A2340">
              <a:alpha val="20000"/>
            </a:srgbClr>
          </a:solidFill>
          <a:ln w="12700">
            <a:solidFill>
              <a:srgbClr val="2A3F6A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4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14630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all-in-one intelligent platform that automates the entire AI workflow: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194560"/>
            <a:ext cx="256032" cy="256032"/>
          </a:xfrm>
          <a:prstGeom prst="oval">
            <a:avLst/>
          </a:prstGeom>
          <a:solidFill>
            <a:srgbClr val="00E5A0">
              <a:alpha val="85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17627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11680" y="217627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find verified datasets globally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852928"/>
            <a:ext cx="256032" cy="256032"/>
          </a:xfrm>
          <a:prstGeom prst="oval">
            <a:avLst/>
          </a:prstGeom>
          <a:solidFill>
            <a:srgbClr val="7B61FF">
              <a:alpha val="85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28346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11680" y="28346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preserving statistical variance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3511296"/>
            <a:ext cx="256032" cy="256032"/>
          </a:xfrm>
          <a:prstGeom prst="oval">
            <a:avLst/>
          </a:prstGeom>
          <a:solidFill>
            <a:srgbClr val="FFD166">
              <a:alpha val="85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349300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Cleansing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011680" y="349300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imputation, outlier removal, encoding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4169664"/>
            <a:ext cx="256032" cy="256032"/>
          </a:xfrm>
          <a:prstGeom prst="oval">
            <a:avLst/>
          </a:prstGeom>
          <a:solidFill>
            <a:srgbClr val="00C6FF">
              <a:alpha val="85000"/>
            </a:srgbClr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15137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011680" y="4151376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CPU, GPU &amp; NLP AutoML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457200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Credit-based · Serverless · Accessible for students, analysts &amp; startups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212080" y="1325880"/>
            <a:ext cx="3657600" cy="3566160"/>
          </a:xfrm>
          <a:prstGeom prst="roundRect">
            <a:avLst>
              <a:gd name="adj" fmla="val 3077"/>
            </a:avLst>
          </a:prstGeom>
          <a:solidFill>
            <a:srgbClr val="1A2340">
              <a:alpha val="22000"/>
            </a:srgbClr>
          </a:solidFill>
          <a:ln w="12700">
            <a:solidFill>
              <a:srgbClr val="2A3F6A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4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349240" y="14173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DATALYZE DASHBOARD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349240" y="182880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0D1829">
              <a:alpha val="70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49240" y="18745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1,240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349240" y="230428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Found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132320" y="182880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0D1829">
              <a:alpha val="70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32320" y="18745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387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7132320" y="230428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Trained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349240" y="283464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0D1829">
              <a:alpha val="7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49240" y="28803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620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5349240" y="331012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 Used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132320" y="283464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0D1829">
              <a:alpha val="70000"/>
            </a:srgbClr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32320" y="28803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94.3%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7132320" y="331012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349240" y="393192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AutoML Training Progress</a:t>
            </a:r>
            <a:endParaRPr lang="en-US" sz="900" dirty="0"/>
          </a:p>
        </p:txBody>
      </p:sp>
      <p:graphicFrame>
        <p:nvGraphicFramePr>
          <p:cNvPr id="41" name="Chart 0" descr=""/>
          <p:cNvGraphicFramePr/>
          <p:nvPr/>
        </p:nvGraphicFramePr>
        <p:xfrm>
          <a:off x="5257800" y="4160520"/>
          <a:ext cx="3520440" cy="71323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"/>
          </a:xfrm>
          <a:prstGeom prst="rect">
            <a:avLst/>
          </a:prstGeom>
          <a:solidFill>
            <a:srgbClr val="1E3060">
              <a:alpha val="30000"/>
            </a:srgbClr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0"/>
            <a:ext cx="9144000" cy="4572"/>
          </a:xfrm>
          <a:prstGeom prst="rect">
            <a:avLst/>
          </a:prstGeom>
          <a:solidFill>
            <a:srgbClr val="1E3060">
              <a:alpha val="30000"/>
            </a:srgbClr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194560"/>
            <a:ext cx="9144000" cy="4572"/>
          </a:xfrm>
          <a:prstGeom prst="rect">
            <a:avLst/>
          </a:prstGeom>
          <a:solidFill>
            <a:srgbClr val="1E3060">
              <a:alpha val="30000"/>
            </a:srgbClr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3291840"/>
            <a:ext cx="9144000" cy="4572"/>
          </a:xfrm>
          <a:prstGeom prst="rect">
            <a:avLst/>
          </a:prstGeom>
          <a:solidFill>
            <a:srgbClr val="1E3060">
              <a:alpha val="30000"/>
            </a:srgbClr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389120"/>
            <a:ext cx="9144000" cy="4572"/>
          </a:xfrm>
          <a:prstGeom prst="rect">
            <a:avLst/>
          </a:prstGeom>
          <a:solidFill>
            <a:srgbClr val="1E3060">
              <a:alpha val="30000"/>
            </a:srgbClr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82880"/>
            <a:ext cx="1371600" cy="256032"/>
          </a:xfrm>
          <a:prstGeom prst="roundRect">
            <a:avLst>
              <a:gd name="adj" fmla="val 25000"/>
            </a:avLst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828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F1E"/>
                </a:solidFill>
              </a:rPr>
              <a:t>PLATFORM OVERVIEW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5486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Unified AI Pipeline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1389888" y="2194560"/>
            <a:ext cx="365760" cy="54864"/>
          </a:xfrm>
          <a:prstGeom prst="rect">
            <a:avLst/>
          </a:prstGeom>
          <a:solidFill>
            <a:srgbClr val="00E5A0">
              <a:alpha val="50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417320"/>
            <a:ext cx="1097280" cy="1097280"/>
          </a:xfrm>
          <a:prstGeom prst="oval">
            <a:avLst/>
          </a:prstGeom>
          <a:solidFill>
            <a:srgbClr val="00E5A0">
              <a:alpha val="25000"/>
            </a:srgbClr>
          </a:solidFill>
          <a:ln w="25400">
            <a:solidFill>
              <a:srgbClr val="00E5A0"/>
            </a:solidFill>
            <a:prstDash val="solid"/>
          </a:ln>
          <a:effectLst>
            <a:outerShdw sx="100000" sy="100000" kx="0" ky="0" algn="bl" rotWithShape="0" blurRad="190500" dist="25400" dir="2700000">
              <a:srgbClr val="00E5A0">
                <a:alpha val="4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74320" y="14173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E5A0"/>
                </a:solidFill>
              </a:rPr>
              <a:t>1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28600" y="26517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28600" y="299923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Datasets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596896" y="2194560"/>
            <a:ext cx="365760" cy="54864"/>
          </a:xfrm>
          <a:prstGeom prst="rect">
            <a:avLst/>
          </a:prstGeom>
          <a:solidFill>
            <a:srgbClr val="00C6FF">
              <a:alpha val="50000"/>
            </a:srgbClr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481328" y="1417320"/>
            <a:ext cx="1097280" cy="1097280"/>
          </a:xfrm>
          <a:prstGeom prst="oval">
            <a:avLst/>
          </a:prstGeom>
          <a:solidFill>
            <a:srgbClr val="00C6FF">
              <a:alpha val="25000"/>
            </a:srgbClr>
          </a:solidFill>
          <a:ln w="25400">
            <a:solidFill>
              <a:srgbClr val="00C6FF"/>
            </a:solidFill>
            <a:prstDash val="solid"/>
          </a:ln>
          <a:effectLst>
            <a:outerShdw sx="100000" sy="100000" kx="0" ky="0" algn="bl" rotWithShape="0" blurRad="190500" dist="25400" dir="2700000">
              <a:srgbClr val="00C6FF">
                <a:alpha val="4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481328" y="14173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6FF"/>
                </a:solidFill>
              </a:rPr>
              <a:t>2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435608" y="26517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435608" y="299923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Scraping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803904" y="2194560"/>
            <a:ext cx="365760" cy="54864"/>
          </a:xfrm>
          <a:prstGeom prst="rect">
            <a:avLst/>
          </a:prstGeom>
          <a:solidFill>
            <a:srgbClr val="7B61FF">
              <a:alpha val="50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88336" y="1417320"/>
            <a:ext cx="1097280" cy="1097280"/>
          </a:xfrm>
          <a:prstGeom prst="oval">
            <a:avLst/>
          </a:prstGeom>
          <a:solidFill>
            <a:srgbClr val="7B61FF">
              <a:alpha val="25000"/>
            </a:srgbClr>
          </a:solidFill>
          <a:ln w="25400">
            <a:solidFill>
              <a:srgbClr val="7B61FF"/>
            </a:solidFill>
            <a:prstDash val="solid"/>
          </a:ln>
          <a:effectLst>
            <a:outerShdw sx="100000" sy="100000" kx="0" ky="0" algn="bl" rotWithShape="0" blurRad="190500" dist="25400" dir="2700000">
              <a:srgbClr val="7B61FF">
                <a:alpha val="4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688336" y="14173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B61FF"/>
                </a:solidFill>
              </a:rPr>
              <a:t>3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2642616" y="26517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642616" y="299923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EDA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010912" y="2194560"/>
            <a:ext cx="365760" cy="54864"/>
          </a:xfrm>
          <a:prstGeom prst="rect">
            <a:avLst/>
          </a:prstGeom>
          <a:solidFill>
            <a:srgbClr val="FFD166">
              <a:alpha val="5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95344" y="1417320"/>
            <a:ext cx="1097280" cy="1097280"/>
          </a:xfrm>
          <a:prstGeom prst="oval">
            <a:avLst/>
          </a:prstGeom>
          <a:solidFill>
            <a:srgbClr val="FFD166">
              <a:alpha val="25000"/>
            </a:srgbClr>
          </a:solidFill>
          <a:ln w="25400">
            <a:solidFill>
              <a:srgbClr val="FFD166"/>
            </a:solidFill>
            <a:prstDash val="solid"/>
          </a:ln>
          <a:effectLst>
            <a:outerShdw sx="100000" sy="100000" kx="0" ky="0" algn="bl" rotWithShape="0" blurRad="190500" dist="25400" dir="2700000">
              <a:srgbClr val="FFD166">
                <a:alpha val="4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895344" y="14173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D166"/>
                </a:solidFill>
              </a:rPr>
              <a:t>4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3849624" y="26517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849624" y="299923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217920" y="2194560"/>
            <a:ext cx="365760" cy="54864"/>
          </a:xfrm>
          <a:prstGeom prst="rect">
            <a:avLst/>
          </a:prstGeom>
          <a:solidFill>
            <a:srgbClr val="FF8C42">
              <a:alpha val="50000"/>
            </a:srgbClr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102352" y="1417320"/>
            <a:ext cx="1097280" cy="1097280"/>
          </a:xfrm>
          <a:prstGeom prst="oval">
            <a:avLst/>
          </a:prstGeom>
          <a:solidFill>
            <a:srgbClr val="FF8C42">
              <a:alpha val="25000"/>
            </a:srgbClr>
          </a:solidFill>
          <a:ln w="25400">
            <a:solidFill>
              <a:srgbClr val="FF8C42"/>
            </a:solidFill>
            <a:prstDash val="solid"/>
          </a:ln>
          <a:effectLst>
            <a:outerShdw sx="100000" sy="100000" kx="0" ky="0" algn="bl" rotWithShape="0" blurRad="190500" dist="25400" dir="2700000">
              <a:srgbClr val="FF8C42">
                <a:alpha val="4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102352" y="14173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8C42"/>
                </a:solidFill>
              </a:rPr>
              <a:t>5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5056632" y="26517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056632" y="299923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424928" y="2194560"/>
            <a:ext cx="365760" cy="54864"/>
          </a:xfrm>
          <a:prstGeom prst="rect">
            <a:avLst/>
          </a:prstGeom>
          <a:solidFill>
            <a:srgbClr val="FF4D6A">
              <a:alpha val="50000"/>
            </a:srgbClr>
          </a:solidFill>
          <a:ln w="12700">
            <a:solidFill>
              <a:srgbClr val="FF4D6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09360" y="1417320"/>
            <a:ext cx="1097280" cy="1097280"/>
          </a:xfrm>
          <a:prstGeom prst="oval">
            <a:avLst/>
          </a:prstGeom>
          <a:solidFill>
            <a:srgbClr val="FF4D6A">
              <a:alpha val="25000"/>
            </a:srgbClr>
          </a:solidFill>
          <a:ln w="25400">
            <a:solidFill>
              <a:srgbClr val="FF4D6A"/>
            </a:solidFill>
            <a:prstDash val="solid"/>
          </a:ln>
          <a:effectLst>
            <a:outerShdw sx="100000" sy="100000" kx="0" ky="0" algn="bl" rotWithShape="0" blurRad="190500" dist="25400" dir="2700000">
              <a:srgbClr val="FF4D6A">
                <a:alpha val="4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309360" y="14173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4D6A"/>
                </a:solidFill>
              </a:rPr>
              <a:t>6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6263640" y="26517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Builder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263640" y="299923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AutoML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7516368" y="1417320"/>
            <a:ext cx="1097280" cy="1097280"/>
          </a:xfrm>
          <a:prstGeom prst="oval">
            <a:avLst/>
          </a:prstGeom>
          <a:solidFill>
            <a:srgbClr val="A78BFA">
              <a:alpha val="25000"/>
            </a:srgbClr>
          </a:solidFill>
          <a:ln w="25400">
            <a:solidFill>
              <a:srgbClr val="A78BFA"/>
            </a:solidFill>
            <a:prstDash val="solid"/>
          </a:ln>
          <a:effectLst>
            <a:outerShdw sx="100000" sy="100000" kx="0" ky="0" algn="bl" rotWithShape="0" blurRad="190500" dist="25400" dir="2700000">
              <a:srgbClr val="A78BFA">
                <a:alpha val="4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516368" y="14173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78BFA"/>
                </a:solidFill>
              </a:rPr>
              <a:t>7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7470648" y="26517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470648" y="299923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Deploy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65760" y="3474720"/>
            <a:ext cx="8412480" cy="1417320"/>
          </a:xfrm>
          <a:prstGeom prst="roundRect">
            <a:avLst>
              <a:gd name="adj" fmla="val 7742"/>
            </a:avLst>
          </a:prstGeom>
          <a:solidFill>
            <a:srgbClr val="1A2340">
              <a:alpha val="18000"/>
            </a:srgbClr>
          </a:solidFill>
          <a:ln w="12700">
            <a:solidFill>
              <a:srgbClr val="2A3F6A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4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Every Step. Zero Code Required.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40080" y="397764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Datalyze connects every stage of your AI workflow — from raw data discovery to trained, deployable models — in a single, credit-based, serverless environment accessible to every skill level.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"/>
          </a:xfrm>
          <a:prstGeom prst="rect">
            <a:avLst/>
          </a:prstGeom>
          <a:solidFill>
            <a:srgbClr val="1E3060">
              <a:alpha val="30000"/>
            </a:srgbClr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0"/>
            <a:ext cx="9144000" cy="4572"/>
          </a:xfrm>
          <a:prstGeom prst="rect">
            <a:avLst/>
          </a:prstGeom>
          <a:solidFill>
            <a:srgbClr val="1E3060">
              <a:alpha val="30000"/>
            </a:srgbClr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194560"/>
            <a:ext cx="9144000" cy="4572"/>
          </a:xfrm>
          <a:prstGeom prst="rect">
            <a:avLst/>
          </a:prstGeom>
          <a:solidFill>
            <a:srgbClr val="1E3060">
              <a:alpha val="30000"/>
            </a:srgbClr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3291840"/>
            <a:ext cx="9144000" cy="4572"/>
          </a:xfrm>
          <a:prstGeom prst="rect">
            <a:avLst/>
          </a:prstGeom>
          <a:solidFill>
            <a:srgbClr val="1E3060">
              <a:alpha val="30000"/>
            </a:srgbClr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389120"/>
            <a:ext cx="9144000" cy="4572"/>
          </a:xfrm>
          <a:prstGeom prst="rect">
            <a:avLst/>
          </a:prstGeom>
          <a:solidFill>
            <a:srgbClr val="1E3060">
              <a:alpha val="30000"/>
            </a:srgbClr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82880"/>
            <a:ext cx="1371600" cy="256032"/>
          </a:xfrm>
          <a:prstGeom prst="roundRect">
            <a:avLst>
              <a:gd name="adj" fmla="val 25000"/>
            </a:avLst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828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F1E"/>
                </a:solidFill>
              </a:rPr>
              <a:t>FEATURES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5486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274320" y="1234440"/>
            <a:ext cx="2743200" cy="1691640"/>
          </a:xfrm>
          <a:prstGeom prst="roundRect">
            <a:avLst>
              <a:gd name="adj" fmla="val 6486"/>
            </a:avLst>
          </a:prstGeom>
          <a:solidFill>
            <a:srgbClr val="1A2340">
              <a:alpha val="20000"/>
            </a:srgbClr>
          </a:solidFill>
          <a:ln w="12700">
            <a:solidFill>
              <a:srgbClr val="2A3F6A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8912" y="1399032"/>
            <a:ext cx="502920" cy="502920"/>
          </a:xfrm>
          <a:prstGeom prst="oval">
            <a:avLst/>
          </a:prstGeom>
          <a:solidFill>
            <a:srgbClr val="00E5A0">
              <a:alpha val="30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13990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🔍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1417320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Search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11480" y="1892808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thousands of verified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datasets instantly.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18688" y="1234440"/>
            <a:ext cx="2743200" cy="1691640"/>
          </a:xfrm>
          <a:prstGeom prst="roundRect">
            <a:avLst>
              <a:gd name="adj" fmla="val 6486"/>
            </a:avLst>
          </a:prstGeom>
          <a:solidFill>
            <a:srgbClr val="1A2340">
              <a:alpha val="20000"/>
            </a:srgbClr>
          </a:solidFill>
          <a:ln w="12700">
            <a:solidFill>
              <a:srgbClr val="2A3F6A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83280" y="1399032"/>
            <a:ext cx="502920" cy="502920"/>
          </a:xfrm>
          <a:prstGeom prst="oval">
            <a:avLst/>
          </a:prstGeom>
          <a:solidFill>
            <a:srgbClr val="00C6FF">
              <a:alpha val="30000"/>
            </a:srgbClr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13990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🌐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995928" y="1417320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Extractor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355848" y="1892808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live web pages into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data via headless browser.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63056" y="1234440"/>
            <a:ext cx="2743200" cy="1691640"/>
          </a:xfrm>
          <a:prstGeom prst="roundRect">
            <a:avLst>
              <a:gd name="adj" fmla="val 6486"/>
            </a:avLst>
          </a:prstGeom>
          <a:solidFill>
            <a:srgbClr val="1A2340">
              <a:alpha val="20000"/>
            </a:srgbClr>
          </a:solidFill>
          <a:ln w="12700">
            <a:solidFill>
              <a:srgbClr val="2A3F6A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27648" y="1399032"/>
            <a:ext cx="502920" cy="502920"/>
          </a:xfrm>
          <a:prstGeom prst="oval">
            <a:avLst/>
          </a:prstGeom>
          <a:solidFill>
            <a:srgbClr val="FFD166">
              <a:alpha val="3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27648" y="13990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✨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40296" y="1417320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Auto-Clean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300216" y="1892808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imputation,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removal, and encoding.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108960"/>
            <a:ext cx="2743200" cy="1691640"/>
          </a:xfrm>
          <a:prstGeom prst="roundRect">
            <a:avLst>
              <a:gd name="adj" fmla="val 6486"/>
            </a:avLst>
          </a:prstGeom>
          <a:solidFill>
            <a:srgbClr val="1A2340">
              <a:alpha val="20000"/>
            </a:srgbClr>
          </a:solidFill>
          <a:ln w="12700">
            <a:solidFill>
              <a:srgbClr val="2A3F6A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4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38912" y="3273552"/>
            <a:ext cx="502920" cy="502920"/>
          </a:xfrm>
          <a:prstGeom prst="oval">
            <a:avLst/>
          </a:prstGeom>
          <a:solidFill>
            <a:srgbClr val="7B61FF">
              <a:alpha val="30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32735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🧠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51560" y="3291840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Generation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11480" y="3767328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millions of realistic rows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preserving statistical variance.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18688" y="3108960"/>
            <a:ext cx="2743200" cy="1691640"/>
          </a:xfrm>
          <a:prstGeom prst="roundRect">
            <a:avLst>
              <a:gd name="adj" fmla="val 6486"/>
            </a:avLst>
          </a:prstGeom>
          <a:solidFill>
            <a:srgbClr val="1A2340">
              <a:alpha val="20000"/>
            </a:srgbClr>
          </a:solidFill>
          <a:ln w="12700">
            <a:solidFill>
              <a:srgbClr val="2A3F6A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4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383280" y="3273552"/>
            <a:ext cx="502920" cy="502920"/>
          </a:xfrm>
          <a:prstGeom prst="oval">
            <a:avLst/>
          </a:prstGeom>
          <a:solidFill>
            <a:srgbClr val="FF4D6A">
              <a:alpha val="30000"/>
            </a:srgbClr>
          </a:solidFill>
          <a:ln w="12700">
            <a:solidFill>
              <a:srgbClr val="FF4D6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83280" y="32735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🤖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995928" y="3291840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4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AutoML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3355848" y="3767328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CPU, GPU &amp; NLP models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visually — no code needed.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63056" y="3108960"/>
            <a:ext cx="2743200" cy="1691640"/>
          </a:xfrm>
          <a:prstGeom prst="roundRect">
            <a:avLst>
              <a:gd name="adj" fmla="val 6486"/>
            </a:avLst>
          </a:prstGeom>
          <a:solidFill>
            <a:srgbClr val="1A2340">
              <a:alpha val="20000"/>
            </a:srgbClr>
          </a:solidFill>
          <a:ln w="12700">
            <a:solidFill>
              <a:srgbClr val="2A3F6A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4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327648" y="3273552"/>
            <a:ext cx="502920" cy="502920"/>
          </a:xfrm>
          <a:prstGeom prst="oval">
            <a:avLst/>
          </a:prstGeom>
          <a:solidFill>
            <a:srgbClr val="A78BFA">
              <a:alpha val="3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27648" y="32735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💰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940296" y="3291840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Control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300216" y="3767328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Pay-per-use credits. Failed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are auto-refunded.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"/>
          </a:xfrm>
          <a:prstGeom prst="rect">
            <a:avLst/>
          </a:prstGeom>
          <a:solidFill>
            <a:srgbClr val="1E3060">
              <a:alpha val="30000"/>
            </a:srgbClr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0"/>
            <a:ext cx="9144000" cy="4572"/>
          </a:xfrm>
          <a:prstGeom prst="rect">
            <a:avLst/>
          </a:prstGeom>
          <a:solidFill>
            <a:srgbClr val="1E3060">
              <a:alpha val="30000"/>
            </a:srgbClr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194560"/>
            <a:ext cx="9144000" cy="4572"/>
          </a:xfrm>
          <a:prstGeom prst="rect">
            <a:avLst/>
          </a:prstGeom>
          <a:solidFill>
            <a:srgbClr val="1E3060">
              <a:alpha val="30000"/>
            </a:srgbClr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3291840"/>
            <a:ext cx="9144000" cy="4572"/>
          </a:xfrm>
          <a:prstGeom prst="rect">
            <a:avLst/>
          </a:prstGeom>
          <a:solidFill>
            <a:srgbClr val="1E3060">
              <a:alpha val="30000"/>
            </a:srgbClr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389120"/>
            <a:ext cx="9144000" cy="4572"/>
          </a:xfrm>
          <a:prstGeom prst="rect">
            <a:avLst/>
          </a:prstGeom>
          <a:solidFill>
            <a:srgbClr val="1E3060">
              <a:alpha val="30000"/>
            </a:srgbClr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82880"/>
            <a:ext cx="1371600" cy="256032"/>
          </a:xfrm>
          <a:prstGeom prst="roundRect">
            <a:avLst>
              <a:gd name="adj" fmla="val 25000"/>
            </a:avLst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828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F1E"/>
                </a:solidFill>
              </a:rPr>
              <a:t>PRICING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5486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Pay-As-You-Execute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14400" y="11155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 deducted only on successful execution. No hidden charges. Failed tasks auto-refunded.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508760"/>
            <a:ext cx="8229600" cy="420624"/>
          </a:xfrm>
          <a:prstGeom prst="roundRect">
            <a:avLst>
              <a:gd name="adj" fmla="val 15217"/>
            </a:avLst>
          </a:prstGeom>
          <a:solidFill>
            <a:srgbClr val="111827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508760"/>
            <a:ext cx="4114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Dataset Search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1508760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Credits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269480" y="1591056"/>
            <a:ext cx="1261872" cy="256032"/>
          </a:xfrm>
          <a:prstGeom prst="roundRect">
            <a:avLst>
              <a:gd name="adj" fmla="val 21429"/>
            </a:avLst>
          </a:prstGeom>
          <a:solidFill>
            <a:srgbClr val="00E5A0">
              <a:alpha val="80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69480" y="1591056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Free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" y="1984248"/>
            <a:ext cx="8229600" cy="420624"/>
          </a:xfrm>
          <a:prstGeom prst="roundRect">
            <a:avLst>
              <a:gd name="adj" fmla="val 15217"/>
            </a:avLst>
          </a:prstGeom>
          <a:solidFill>
            <a:srgbClr val="0D142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1984248"/>
            <a:ext cx="4114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EDA / Understand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1984248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Credits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2459736"/>
            <a:ext cx="8229600" cy="420624"/>
          </a:xfrm>
          <a:prstGeom prst="roundRect">
            <a:avLst>
              <a:gd name="adj" fmla="val 15217"/>
            </a:avLst>
          </a:prstGeom>
          <a:solidFill>
            <a:srgbClr val="111827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2459736"/>
            <a:ext cx="4114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 Clean / Generate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2459736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Credits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2935224"/>
            <a:ext cx="8229600" cy="420624"/>
          </a:xfrm>
          <a:prstGeom prst="roundRect">
            <a:avLst>
              <a:gd name="adj" fmla="val 15217"/>
            </a:avLst>
          </a:prstGeom>
          <a:solidFill>
            <a:srgbClr val="0D142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2935224"/>
            <a:ext cx="4114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Web Extract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46320" y="2935224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Credits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3410712"/>
            <a:ext cx="8229600" cy="420624"/>
          </a:xfrm>
          <a:prstGeom prst="roundRect">
            <a:avLst>
              <a:gd name="adj" fmla="val 15217"/>
            </a:avLst>
          </a:prstGeom>
          <a:solidFill>
            <a:srgbClr val="111827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3410712"/>
            <a:ext cx="4114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Model Builder (CPU)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46320" y="3410712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Credits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3886200"/>
            <a:ext cx="8229600" cy="420624"/>
          </a:xfrm>
          <a:prstGeom prst="roundRect">
            <a:avLst>
              <a:gd name="adj" fmla="val 15217"/>
            </a:avLst>
          </a:prstGeom>
          <a:solidFill>
            <a:srgbClr val="0D1424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3886200"/>
            <a:ext cx="4114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NLP Transformers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46320" y="3886200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Credits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7200" y="4361688"/>
            <a:ext cx="8229600" cy="420624"/>
          </a:xfrm>
          <a:prstGeom prst="roundRect">
            <a:avLst>
              <a:gd name="adj" fmla="val 15217"/>
            </a:avLst>
          </a:prstGeom>
          <a:solidFill>
            <a:srgbClr val="1A0A20"/>
          </a:solidFill>
          <a:ln w="25400">
            <a:solidFill>
              <a:srgbClr val="7B61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4361688"/>
            <a:ext cx="4114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 Deep Learning (GPU) ⚡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46320" y="4361688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4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Credits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269480" y="4443984"/>
            <a:ext cx="1261872" cy="256032"/>
          </a:xfrm>
          <a:prstGeom prst="roundRect">
            <a:avLst>
              <a:gd name="adj" fmla="val 21429"/>
            </a:avLst>
          </a:prstGeom>
          <a:solidFill>
            <a:srgbClr val="7B61FF">
              <a:alpha val="80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69480" y="4443984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Power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"/>
          </a:xfrm>
          <a:prstGeom prst="rect">
            <a:avLst/>
          </a:prstGeom>
          <a:solidFill>
            <a:srgbClr val="1E3060">
              <a:alpha val="30000"/>
            </a:srgbClr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0"/>
            <a:ext cx="9144000" cy="4572"/>
          </a:xfrm>
          <a:prstGeom prst="rect">
            <a:avLst/>
          </a:prstGeom>
          <a:solidFill>
            <a:srgbClr val="1E3060">
              <a:alpha val="30000"/>
            </a:srgbClr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194560"/>
            <a:ext cx="9144000" cy="4572"/>
          </a:xfrm>
          <a:prstGeom prst="rect">
            <a:avLst/>
          </a:prstGeom>
          <a:solidFill>
            <a:srgbClr val="1E3060">
              <a:alpha val="30000"/>
            </a:srgbClr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3291840"/>
            <a:ext cx="9144000" cy="4572"/>
          </a:xfrm>
          <a:prstGeom prst="rect">
            <a:avLst/>
          </a:prstGeom>
          <a:solidFill>
            <a:srgbClr val="1E3060">
              <a:alpha val="30000"/>
            </a:srgbClr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389120"/>
            <a:ext cx="9144000" cy="4572"/>
          </a:xfrm>
          <a:prstGeom prst="rect">
            <a:avLst/>
          </a:prstGeom>
          <a:solidFill>
            <a:srgbClr val="1E3060">
              <a:alpha val="30000"/>
            </a:srgbClr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82880"/>
            <a:ext cx="1371600" cy="256032"/>
          </a:xfrm>
          <a:prstGeom prst="roundRect">
            <a:avLst>
              <a:gd name="adj" fmla="val 25000"/>
            </a:avLst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828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F1E"/>
                </a:solidFill>
              </a:rPr>
              <a:t>PLANS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5486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for Every Builder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137160" y="1170432"/>
            <a:ext cx="1572768" cy="3749040"/>
          </a:xfrm>
          <a:prstGeom prst="roundRect">
            <a:avLst>
              <a:gd name="adj" fmla="val 5814"/>
            </a:avLst>
          </a:prstGeom>
          <a:solidFill>
            <a:srgbClr val="111827"/>
          </a:solidFill>
          <a:ln w="12700">
            <a:solidFill>
              <a:srgbClr val="C8D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" y="1307592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7160" y="1673352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</a:t>
            </a:r>
            <a:pPr algn="ctr" indent="0" marL="0">
              <a:buNone/>
            </a:pPr>
            <a:r>
              <a:rPr lang="en-US" sz="10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320040" y="2194560"/>
            <a:ext cx="1207008" cy="27432"/>
          </a:xfrm>
          <a:prstGeom prst="rect">
            <a:avLst/>
          </a:prstGeom>
          <a:solidFill>
            <a:srgbClr val="C8D0E0">
              <a:alpha val="40000"/>
            </a:srgbClr>
          </a:solidFill>
          <a:ln w="12700">
            <a:solidFill>
              <a:srgbClr val="C8D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7160" y="2267712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Credits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679192"/>
            <a:ext cx="109728" cy="109728"/>
          </a:xfrm>
          <a:prstGeom prst="oval">
            <a:avLst/>
          </a:prstGeom>
          <a:solidFill>
            <a:srgbClr val="C8D0E0"/>
          </a:solidFill>
          <a:ln w="12700">
            <a:solidFill>
              <a:srgbClr val="C8D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" y="2596896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features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3154680"/>
            <a:ext cx="109728" cy="109728"/>
          </a:xfrm>
          <a:prstGeom prst="oval">
            <a:avLst/>
          </a:prstGeom>
          <a:solidFill>
            <a:srgbClr val="C8D0E0"/>
          </a:solidFill>
          <a:ln w="12700">
            <a:solidFill>
              <a:srgbClr val="C8D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" y="3072384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queue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3630168"/>
            <a:ext cx="109728" cy="109728"/>
          </a:xfrm>
          <a:prstGeom prst="oval">
            <a:avLst/>
          </a:prstGeom>
          <a:solidFill>
            <a:srgbClr val="C8D0E0"/>
          </a:solidFill>
          <a:ln w="12700">
            <a:solidFill>
              <a:srgbClr val="C8D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" y="3547872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models only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920240" y="1170432"/>
            <a:ext cx="1572768" cy="3749040"/>
          </a:xfrm>
          <a:prstGeom prst="roundRect">
            <a:avLst>
              <a:gd name="adj" fmla="val 5814"/>
            </a:avLst>
          </a:prstGeom>
          <a:solidFill>
            <a:srgbClr val="111827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20240" y="1307592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920240" y="1673352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₹99</a:t>
            </a:r>
            <a:pPr algn="ctr" indent="0" marL="0">
              <a:buNone/>
            </a:pPr>
            <a:r>
              <a:rPr lang="en-US" sz="10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</a:t>
            </a:r>
            <a:endParaRPr lang="en-US" sz="2800" dirty="0"/>
          </a:p>
        </p:txBody>
      </p:sp>
      <p:sp>
        <p:nvSpPr>
          <p:cNvPr id="24" name="Shape 22"/>
          <p:cNvSpPr/>
          <p:nvPr/>
        </p:nvSpPr>
        <p:spPr>
          <a:xfrm>
            <a:off x="2103120" y="2194560"/>
            <a:ext cx="1207008" cy="27432"/>
          </a:xfrm>
          <a:prstGeom prst="rect">
            <a:avLst/>
          </a:prstGeom>
          <a:solidFill>
            <a:srgbClr val="00C6FF">
              <a:alpha val="40000"/>
            </a:srgbClr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20240" y="2267712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Credits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103120" y="2679192"/>
            <a:ext cx="109728" cy="109728"/>
          </a:xfrm>
          <a:prstGeom prst="oval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67712" y="2596896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execution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103120" y="3154680"/>
            <a:ext cx="109728" cy="109728"/>
          </a:xfrm>
          <a:prstGeom prst="oval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67712" y="3072384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extractor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103120" y="3630168"/>
            <a:ext cx="109728" cy="109728"/>
          </a:xfrm>
          <a:prstGeom prst="oval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67712" y="3547872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support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48456" y="905256"/>
            <a:ext cx="1682496" cy="4270248"/>
          </a:xfrm>
          <a:prstGeom prst="roundRect">
            <a:avLst>
              <a:gd name="adj" fmla="val 7609"/>
            </a:avLst>
          </a:prstGeom>
          <a:solidFill>
            <a:srgbClr val="00E5A0">
              <a:alpha val="15000"/>
            </a:srgbClr>
          </a:solidFill>
          <a:ln w="12700">
            <a:solidFill>
              <a:srgbClr val="00E5A0"/>
            </a:solidFill>
            <a:prstDash val="solid"/>
          </a:ln>
          <a:effectLst>
            <a:outerShdw sx="100000" sy="100000" kx="0" ky="0" algn="bl" rotWithShape="0" blurRad="317500" dist="50800" dir="2700000">
              <a:srgbClr val="00E5A0">
                <a:alpha val="4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703320" y="960120"/>
            <a:ext cx="1572768" cy="4160520"/>
          </a:xfrm>
          <a:prstGeom prst="roundRect">
            <a:avLst>
              <a:gd name="adj" fmla="val 5814"/>
            </a:avLst>
          </a:prstGeom>
          <a:solidFill>
            <a:srgbClr val="0D2218"/>
          </a:solidFill>
          <a:ln w="25400">
            <a:solidFill>
              <a:srgbClr val="00E5A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032504" y="758952"/>
            <a:ext cx="914400" cy="237744"/>
          </a:xfrm>
          <a:prstGeom prst="roundRect">
            <a:avLst>
              <a:gd name="adj" fmla="val 23077"/>
            </a:avLst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32504" y="758952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F1E"/>
                </a:solidFill>
              </a:rPr>
              <a:t>POPULAR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703320" y="1097280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703320" y="146304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₹199</a:t>
            </a:r>
            <a:pPr algn="ctr" indent="0" marL="0">
              <a:buNone/>
            </a:pPr>
            <a:r>
              <a:rPr lang="en-US" sz="10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</a:t>
            </a:r>
            <a:endParaRPr lang="en-US" sz="2800" dirty="0"/>
          </a:p>
        </p:txBody>
      </p:sp>
      <p:sp>
        <p:nvSpPr>
          <p:cNvPr id="38" name="Shape 36"/>
          <p:cNvSpPr/>
          <p:nvPr/>
        </p:nvSpPr>
        <p:spPr>
          <a:xfrm>
            <a:off x="3886200" y="1984248"/>
            <a:ext cx="1207008" cy="27432"/>
          </a:xfrm>
          <a:prstGeom prst="rect">
            <a:avLst/>
          </a:prstGeom>
          <a:solidFill>
            <a:srgbClr val="00E5A0">
              <a:alpha val="40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03320" y="2057400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Credits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886200" y="2468880"/>
            <a:ext cx="109728" cy="109728"/>
          </a:xfrm>
          <a:prstGeom prst="oval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050792" y="2386584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queue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886200" y="2944368"/>
            <a:ext cx="109728" cy="109728"/>
          </a:xfrm>
          <a:prstGeom prst="oval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050792" y="2862072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models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886200" y="3419856"/>
            <a:ext cx="109728" cy="109728"/>
          </a:xfrm>
          <a:prstGeom prst="oval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050792" y="333756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features unlocked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486400" y="1170432"/>
            <a:ext cx="1572768" cy="3749040"/>
          </a:xfrm>
          <a:prstGeom prst="roundRect">
            <a:avLst>
              <a:gd name="adj" fmla="val 5814"/>
            </a:avLst>
          </a:prstGeom>
          <a:solidFill>
            <a:srgbClr val="111827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86400" y="1307592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486400" y="1673352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₹499</a:t>
            </a:r>
            <a:pPr algn="ctr" indent="0" marL="0">
              <a:buNone/>
            </a:pPr>
            <a:r>
              <a:rPr lang="en-US" sz="10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</a:t>
            </a:r>
            <a:endParaRPr lang="en-US" sz="2800" dirty="0"/>
          </a:p>
        </p:txBody>
      </p:sp>
      <p:sp>
        <p:nvSpPr>
          <p:cNvPr id="49" name="Shape 47"/>
          <p:cNvSpPr/>
          <p:nvPr/>
        </p:nvSpPr>
        <p:spPr>
          <a:xfrm>
            <a:off x="5669280" y="2194560"/>
            <a:ext cx="1207008" cy="27432"/>
          </a:xfrm>
          <a:prstGeom prst="rect">
            <a:avLst/>
          </a:prstGeom>
          <a:solidFill>
            <a:srgbClr val="7B61FF">
              <a:alpha val="40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86400" y="2267712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 Credits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669280" y="2679192"/>
            <a:ext cx="109728" cy="109728"/>
          </a:xfrm>
          <a:prstGeom prst="oval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833872" y="2596896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 &amp; NLP enabled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669280" y="3154680"/>
            <a:ext cx="109728" cy="109728"/>
          </a:xfrm>
          <a:prstGeom prst="oval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833872" y="3072384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AutoML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669280" y="3630168"/>
            <a:ext cx="109728" cy="109728"/>
          </a:xfrm>
          <a:prstGeom prst="oval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833872" y="3547872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269480" y="1170432"/>
            <a:ext cx="1572768" cy="3749040"/>
          </a:xfrm>
          <a:prstGeom prst="roundRect">
            <a:avLst>
              <a:gd name="adj" fmla="val 5814"/>
            </a:avLst>
          </a:prstGeom>
          <a:solidFill>
            <a:srgbClr val="111827"/>
          </a:solidFill>
          <a:ln w="12700">
            <a:solidFill>
              <a:srgbClr val="FF4D6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269480" y="1307592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4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7269480" y="1673352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₹999</a:t>
            </a:r>
            <a:pPr algn="ctr" indent="0" marL="0">
              <a:buNone/>
            </a:pPr>
            <a:r>
              <a:rPr lang="en-US" sz="10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</a:t>
            </a:r>
            <a:endParaRPr lang="en-US" sz="2800" dirty="0"/>
          </a:p>
        </p:txBody>
      </p:sp>
      <p:sp>
        <p:nvSpPr>
          <p:cNvPr id="60" name="Shape 58"/>
          <p:cNvSpPr/>
          <p:nvPr/>
        </p:nvSpPr>
        <p:spPr>
          <a:xfrm>
            <a:off x="7452360" y="2194560"/>
            <a:ext cx="1207008" cy="27432"/>
          </a:xfrm>
          <a:prstGeom prst="rect">
            <a:avLst/>
          </a:prstGeom>
          <a:solidFill>
            <a:srgbClr val="FF4D6A">
              <a:alpha val="40000"/>
            </a:srgbClr>
          </a:solidFill>
          <a:ln w="12700">
            <a:solidFill>
              <a:srgbClr val="FF4D6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269480" y="2267712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4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 Credits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7452360" y="2679192"/>
            <a:ext cx="109728" cy="109728"/>
          </a:xfrm>
          <a:prstGeom prst="oval">
            <a:avLst/>
          </a:prstGeom>
          <a:solidFill>
            <a:srgbClr val="FF4D6A"/>
          </a:solidFill>
          <a:ln w="12700">
            <a:solidFill>
              <a:srgbClr val="FF4D6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616952" y="2596896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GPU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7452360" y="3154680"/>
            <a:ext cx="109728" cy="109728"/>
          </a:xfrm>
          <a:prstGeom prst="oval">
            <a:avLst/>
          </a:prstGeom>
          <a:solidFill>
            <a:srgbClr val="FF4D6A"/>
          </a:solidFill>
          <a:ln w="12700">
            <a:solidFill>
              <a:srgbClr val="FF4D6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616952" y="3072384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agents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7452360" y="3630168"/>
            <a:ext cx="109728" cy="109728"/>
          </a:xfrm>
          <a:prstGeom prst="oval">
            <a:avLst/>
          </a:prstGeom>
          <a:solidFill>
            <a:srgbClr val="FF4D6A"/>
          </a:solidFill>
          <a:ln w="12700">
            <a:solidFill>
              <a:srgbClr val="FF4D6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616952" y="3547872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priority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"/>
          </a:xfrm>
          <a:prstGeom prst="rect">
            <a:avLst/>
          </a:prstGeom>
          <a:solidFill>
            <a:srgbClr val="1E3060">
              <a:alpha val="30000"/>
            </a:srgbClr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0"/>
            <a:ext cx="9144000" cy="4572"/>
          </a:xfrm>
          <a:prstGeom prst="rect">
            <a:avLst/>
          </a:prstGeom>
          <a:solidFill>
            <a:srgbClr val="1E3060">
              <a:alpha val="30000"/>
            </a:srgbClr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194560"/>
            <a:ext cx="9144000" cy="4572"/>
          </a:xfrm>
          <a:prstGeom prst="rect">
            <a:avLst/>
          </a:prstGeom>
          <a:solidFill>
            <a:srgbClr val="1E3060">
              <a:alpha val="30000"/>
            </a:srgbClr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3291840"/>
            <a:ext cx="9144000" cy="4572"/>
          </a:xfrm>
          <a:prstGeom prst="rect">
            <a:avLst/>
          </a:prstGeom>
          <a:solidFill>
            <a:srgbClr val="1E3060">
              <a:alpha val="30000"/>
            </a:srgbClr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389120"/>
            <a:ext cx="9144000" cy="4572"/>
          </a:xfrm>
          <a:prstGeom prst="rect">
            <a:avLst/>
          </a:prstGeom>
          <a:solidFill>
            <a:srgbClr val="1E3060">
              <a:alpha val="30000"/>
            </a:srgbClr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82880"/>
            <a:ext cx="1371600" cy="256032"/>
          </a:xfrm>
          <a:prstGeom prst="roundRect">
            <a:avLst>
              <a:gd name="adj" fmla="val 25000"/>
            </a:avLst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828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F1E"/>
                </a:solidFill>
              </a:rPr>
              <a:t>ARCHITECTURE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5486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Scalable, Cloud-Native Architecture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57200" y="1325880"/>
            <a:ext cx="8229600" cy="749808"/>
          </a:xfrm>
          <a:prstGeom prst="roundRect">
            <a:avLst>
              <a:gd name="adj" fmla="val 12195"/>
            </a:avLst>
          </a:prstGeom>
          <a:solidFill>
            <a:srgbClr val="111827"/>
          </a:solidFill>
          <a:ln w="25400">
            <a:solidFill>
              <a:srgbClr val="00E5A0"/>
            </a:solidFill>
            <a:prstDash val="solid"/>
          </a:ln>
          <a:effectLst>
            <a:outerShdw sx="100000" sy="100000" kx="0" ky="0" algn="bl" rotWithShape="0" blurRad="152400" dist="25400" dir="2700000">
              <a:srgbClr val="00E5A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325880"/>
            <a:ext cx="2011680" cy="749808"/>
          </a:xfrm>
          <a:prstGeom prst="roundRect">
            <a:avLst>
              <a:gd name="adj" fmla="val 12195"/>
            </a:avLst>
          </a:prstGeom>
          <a:solidFill>
            <a:srgbClr val="00E5A0">
              <a:alpha val="25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325880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USER LAYER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06040" y="1325880"/>
            <a:ext cx="5943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Frontend  ·  Google OAuth  ·  Razorpay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434840" y="2103120"/>
            <a:ext cx="274320" cy="109728"/>
          </a:xfrm>
          <a:prstGeom prst="oval">
            <a:avLst/>
          </a:prstGeom>
          <a:solidFill>
            <a:srgbClr val="00E5A0">
              <a:alpha val="60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240280"/>
            <a:ext cx="8229600" cy="749808"/>
          </a:xfrm>
          <a:prstGeom prst="roundRect">
            <a:avLst>
              <a:gd name="adj" fmla="val 12195"/>
            </a:avLst>
          </a:prstGeom>
          <a:solidFill>
            <a:srgbClr val="111827"/>
          </a:solidFill>
          <a:ln w="25400">
            <a:solidFill>
              <a:srgbClr val="00C6FF"/>
            </a:solidFill>
            <a:prstDash val="solid"/>
          </a:ln>
          <a:effectLst>
            <a:outerShdw sx="100000" sy="100000" kx="0" ky="0" algn="bl" rotWithShape="0" blurRad="152400" dist="25400" dir="2700000">
              <a:srgbClr val="00C6FF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240280"/>
            <a:ext cx="2011680" cy="749808"/>
          </a:xfrm>
          <a:prstGeom prst="roundRect">
            <a:avLst>
              <a:gd name="adj" fmla="val 12195"/>
            </a:avLst>
          </a:prstGeom>
          <a:solidFill>
            <a:srgbClr val="00C6FF">
              <a:alpha val="25000"/>
            </a:srgbClr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240280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 API GATEWAY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06040" y="2240280"/>
            <a:ext cx="5943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/ Node.js  ·  Auth  ·  Rate Limiting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434840" y="3017520"/>
            <a:ext cx="274320" cy="109728"/>
          </a:xfrm>
          <a:prstGeom prst="oval">
            <a:avLst/>
          </a:prstGeom>
          <a:solidFill>
            <a:srgbClr val="00C6FF">
              <a:alpha val="60000"/>
            </a:srgbClr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154680"/>
            <a:ext cx="8229600" cy="749808"/>
          </a:xfrm>
          <a:prstGeom prst="roundRect">
            <a:avLst>
              <a:gd name="adj" fmla="val 12195"/>
            </a:avLst>
          </a:prstGeom>
          <a:solidFill>
            <a:srgbClr val="111827"/>
          </a:solidFill>
          <a:ln w="25400">
            <a:solidFill>
              <a:srgbClr val="7B61FF"/>
            </a:solidFill>
            <a:prstDash val="solid"/>
          </a:ln>
          <a:effectLst>
            <a:outerShdw sx="100000" sy="100000" kx="0" ky="0" algn="bl" rotWithShape="0" blurRad="152400" dist="25400" dir="2700000">
              <a:srgbClr val="7B61FF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154680"/>
            <a:ext cx="2011680" cy="749808"/>
          </a:xfrm>
          <a:prstGeom prst="roundRect">
            <a:avLst>
              <a:gd name="adj" fmla="val 12195"/>
            </a:avLst>
          </a:prstGeom>
          <a:solidFill>
            <a:srgbClr val="7B61FF">
              <a:alpha val="25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154680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EXECUTION LAYER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606040" y="3154680"/>
            <a:ext cx="5943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GPU Queues (PyTorch/TF)  ·  Celery Workers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434840" y="3931920"/>
            <a:ext cx="274320" cy="109728"/>
          </a:xfrm>
          <a:prstGeom prst="oval">
            <a:avLst/>
          </a:prstGeom>
          <a:solidFill>
            <a:srgbClr val="7B61FF">
              <a:alpha val="60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4069080"/>
            <a:ext cx="8229600" cy="749808"/>
          </a:xfrm>
          <a:prstGeom prst="roundRect">
            <a:avLst>
              <a:gd name="adj" fmla="val 12195"/>
            </a:avLst>
          </a:prstGeom>
          <a:solidFill>
            <a:srgbClr val="111827"/>
          </a:solidFill>
          <a:ln w="25400">
            <a:solidFill>
              <a:srgbClr val="FFD166"/>
            </a:solidFill>
            <a:prstDash val="solid"/>
          </a:ln>
          <a:effectLst>
            <a:outerShdw sx="100000" sy="100000" kx="0" ky="0" algn="bl" rotWithShape="0" blurRad="152400" dist="25400" dir="2700000">
              <a:srgbClr val="FFD166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4069080"/>
            <a:ext cx="2011680" cy="749808"/>
          </a:xfrm>
          <a:prstGeom prst="roundRect">
            <a:avLst>
              <a:gd name="adj" fmla="val 12195"/>
            </a:avLst>
          </a:prstGeom>
          <a:solidFill>
            <a:srgbClr val="FFD166">
              <a:alpha val="25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069080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STORAGE LAYER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606040" y="4069080"/>
            <a:ext cx="5943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(Meta)  ·  AWS S3 (Data)  ·  Redis (Cache)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57200" y="4983480"/>
            <a:ext cx="8229600" cy="320040"/>
          </a:xfrm>
          <a:prstGeom prst="roundRect">
            <a:avLst>
              <a:gd name="adj" fmla="val 34286"/>
            </a:avLst>
          </a:prstGeom>
          <a:solidFill>
            <a:srgbClr val="1A2340">
              <a:alpha val="20000"/>
            </a:srgbClr>
          </a:solidFill>
          <a:ln w="12700">
            <a:solidFill>
              <a:srgbClr val="2A3F6A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4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57200" y="4983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availability · Auto-scaling · 99.9% uptime SLA · SOC-2 compliant infrastructure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"/>
          </a:xfrm>
          <a:prstGeom prst="rect">
            <a:avLst/>
          </a:prstGeom>
          <a:solidFill>
            <a:srgbClr val="1E3060">
              <a:alpha val="30000"/>
            </a:srgbClr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0"/>
            <a:ext cx="9144000" cy="4572"/>
          </a:xfrm>
          <a:prstGeom prst="rect">
            <a:avLst/>
          </a:prstGeom>
          <a:solidFill>
            <a:srgbClr val="1E3060">
              <a:alpha val="30000"/>
            </a:srgbClr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194560"/>
            <a:ext cx="9144000" cy="4572"/>
          </a:xfrm>
          <a:prstGeom prst="rect">
            <a:avLst/>
          </a:prstGeom>
          <a:solidFill>
            <a:srgbClr val="1E3060">
              <a:alpha val="30000"/>
            </a:srgbClr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3291840"/>
            <a:ext cx="9144000" cy="4572"/>
          </a:xfrm>
          <a:prstGeom prst="rect">
            <a:avLst/>
          </a:prstGeom>
          <a:solidFill>
            <a:srgbClr val="1E3060">
              <a:alpha val="30000"/>
            </a:srgbClr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389120"/>
            <a:ext cx="9144000" cy="4572"/>
          </a:xfrm>
          <a:prstGeom prst="rect">
            <a:avLst/>
          </a:prstGeom>
          <a:solidFill>
            <a:srgbClr val="1E3060">
              <a:alpha val="30000"/>
            </a:srgbClr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82880"/>
            <a:ext cx="1371600" cy="256032"/>
          </a:xfrm>
          <a:prstGeom prst="roundRect">
            <a:avLst>
              <a:gd name="adj" fmla="val 25000"/>
            </a:avLst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828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F1E"/>
                </a:solidFill>
              </a:rPr>
              <a:t>USER FLOW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5486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Journey to AI-Ready Insights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1298448" y="2194560"/>
            <a:ext cx="438912" cy="54864"/>
          </a:xfrm>
          <a:prstGeom prst="rect">
            <a:avLst/>
          </a:prstGeom>
          <a:solidFill>
            <a:srgbClr val="00E5A0">
              <a:alpha val="40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508760"/>
            <a:ext cx="1005840" cy="1005840"/>
          </a:xfrm>
          <a:prstGeom prst="oval">
            <a:avLst/>
          </a:prstGeom>
          <a:solidFill>
            <a:srgbClr val="00E5A0">
              <a:alpha val="30000"/>
            </a:srgbClr>
          </a:solidFill>
          <a:ln w="31750">
            <a:solidFill>
              <a:srgbClr val="00E5A0"/>
            </a:solidFill>
            <a:prstDash val="solid"/>
          </a:ln>
          <a:effectLst>
            <a:outerShdw sx="100000" sy="100000" kx="0" ky="0" algn="bl" rotWithShape="0" blurRad="177800" dist="50800" dir="2700000">
              <a:srgbClr val="00E5A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74320" y="150876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E5A0"/>
                </a:solidFill>
              </a:rPr>
              <a:t>01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28600" y="263347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28600" y="2962656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Signup &amp; receive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starter credits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61488" y="2194560"/>
            <a:ext cx="438912" cy="54864"/>
          </a:xfrm>
          <a:prstGeom prst="rect">
            <a:avLst/>
          </a:prstGeom>
          <a:solidFill>
            <a:srgbClr val="00C6FF">
              <a:alpha val="40000"/>
            </a:srgbClr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37360" y="1508760"/>
            <a:ext cx="1005840" cy="1005840"/>
          </a:xfrm>
          <a:prstGeom prst="oval">
            <a:avLst/>
          </a:prstGeom>
          <a:solidFill>
            <a:srgbClr val="00C6FF">
              <a:alpha val="30000"/>
            </a:srgbClr>
          </a:solidFill>
          <a:ln w="31750">
            <a:solidFill>
              <a:srgbClr val="00C6FF"/>
            </a:solidFill>
            <a:prstDash val="solid"/>
          </a:ln>
          <a:effectLst>
            <a:outerShdw sx="100000" sy="100000" kx="0" ky="0" algn="bl" rotWithShape="0" blurRad="177800" dist="50800" dir="2700000">
              <a:srgbClr val="00C6FF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737360" y="150876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6FF"/>
                </a:solidFill>
              </a:rPr>
              <a:t>02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91640" y="263347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691640" y="2962656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upload,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extract data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224528" y="2194560"/>
            <a:ext cx="438912" cy="54864"/>
          </a:xfrm>
          <a:prstGeom prst="rect">
            <a:avLst/>
          </a:prstGeom>
          <a:solidFill>
            <a:srgbClr val="FFD166">
              <a:alpha val="4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1508760"/>
            <a:ext cx="1005840" cy="1005840"/>
          </a:xfrm>
          <a:prstGeom prst="oval">
            <a:avLst/>
          </a:prstGeom>
          <a:solidFill>
            <a:srgbClr val="FFD166">
              <a:alpha val="30000"/>
            </a:srgbClr>
          </a:solidFill>
          <a:ln w="31750">
            <a:solidFill>
              <a:srgbClr val="FFD166"/>
            </a:solidFill>
            <a:prstDash val="solid"/>
          </a:ln>
          <a:effectLst>
            <a:outerShdw sx="100000" sy="100000" kx="0" ky="0" algn="bl" rotWithShape="0" blurRad="177800" dist="50800" dir="2700000">
              <a:srgbClr val="FFD166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200400" y="150876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D166"/>
                </a:solidFill>
              </a:rPr>
              <a:t>03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154680" y="263347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✓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154680" y="2962656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handles missing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&amp; outliers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687568" y="2194560"/>
            <a:ext cx="438912" cy="54864"/>
          </a:xfrm>
          <a:prstGeom prst="rect">
            <a:avLst/>
          </a:prstGeom>
          <a:solidFill>
            <a:srgbClr val="7B61FF">
              <a:alpha val="40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1508760"/>
            <a:ext cx="1005840" cy="1005840"/>
          </a:xfrm>
          <a:prstGeom prst="oval">
            <a:avLst/>
          </a:prstGeom>
          <a:solidFill>
            <a:srgbClr val="7B61FF">
              <a:alpha val="30000"/>
            </a:srgbClr>
          </a:solidFill>
          <a:ln w="31750">
            <a:solidFill>
              <a:srgbClr val="7B61FF"/>
            </a:solidFill>
            <a:prstDash val="solid"/>
          </a:ln>
          <a:effectLst>
            <a:outerShdw sx="100000" sy="100000" kx="0" ky="0" algn="bl" rotWithShape="0" blurRad="177800" dist="50800" dir="2700000">
              <a:srgbClr val="7B61FF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663440" y="150876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B61FF"/>
                </a:solidFill>
              </a:rPr>
              <a:t>04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617720" y="263347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✓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617720" y="2962656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CPU,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DL, or NLP model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150608" y="2194560"/>
            <a:ext cx="438912" cy="54864"/>
          </a:xfrm>
          <a:prstGeom prst="rect">
            <a:avLst/>
          </a:prstGeom>
          <a:solidFill>
            <a:srgbClr val="FF8C42">
              <a:alpha val="40000"/>
            </a:srgbClr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26480" y="1508760"/>
            <a:ext cx="1005840" cy="1005840"/>
          </a:xfrm>
          <a:prstGeom prst="oval">
            <a:avLst/>
          </a:prstGeom>
          <a:solidFill>
            <a:srgbClr val="FF8C42">
              <a:alpha val="30000"/>
            </a:srgbClr>
          </a:solidFill>
          <a:ln w="31750">
            <a:solidFill>
              <a:srgbClr val="FF8C42"/>
            </a:solidFill>
            <a:prstDash val="solid"/>
          </a:ln>
          <a:effectLst>
            <a:outerShdw sx="100000" sy="100000" kx="0" ky="0" algn="bl" rotWithShape="0" blurRad="177800" dist="50800" dir="2700000">
              <a:srgbClr val="FF8C42">
                <a:alpha val="3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126480" y="150876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8C42"/>
                </a:solidFill>
              </a:rPr>
              <a:t>05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080760" y="263347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✓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080760" y="2962656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charts &amp;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589520" y="1508760"/>
            <a:ext cx="1005840" cy="1005840"/>
          </a:xfrm>
          <a:prstGeom prst="oval">
            <a:avLst/>
          </a:prstGeom>
          <a:solidFill>
            <a:srgbClr val="FF4D6A">
              <a:alpha val="30000"/>
            </a:srgbClr>
          </a:solidFill>
          <a:ln w="31750">
            <a:solidFill>
              <a:srgbClr val="FF4D6A"/>
            </a:solidFill>
            <a:prstDash val="solid"/>
          </a:ln>
          <a:effectLst>
            <a:outerShdw sx="100000" sy="100000" kx="0" ky="0" algn="bl" rotWithShape="0" blurRad="177800" dist="50800" dir="2700000">
              <a:srgbClr val="FF4D6A">
                <a:alpha val="3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589520" y="150876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4D6A"/>
                </a:solidFill>
              </a:rPr>
              <a:t>06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543800" y="263347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543800" y="2962656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model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deploy anywhere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57200" y="365760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1A2340">
              <a:alpha val="20000"/>
            </a:srgbClr>
          </a:solidFill>
          <a:ln w="12700">
            <a:solidFill>
              <a:srgbClr val="2A3F6A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4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21792" y="3767328"/>
            <a:ext cx="274320" cy="274320"/>
          </a:xfrm>
          <a:prstGeom prst="oval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1792" y="37673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F1E"/>
                </a:solidFill>
              </a:rPr>
              <a:t>✓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987552" y="37490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DevOps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21792" y="4142232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servers to manage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3291840" y="365760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1A2340">
              <a:alpha val="20000"/>
            </a:srgbClr>
          </a:solidFill>
          <a:ln w="12700">
            <a:solidFill>
              <a:srgbClr val="2A3F6A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4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456432" y="3767328"/>
            <a:ext cx="274320" cy="274320"/>
          </a:xfrm>
          <a:prstGeom prst="oval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56432" y="37673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F1E"/>
                </a:solidFill>
              </a:rPr>
              <a:t>✓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822192" y="37490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Auto-Refund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3456432" y="4142232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tasks refunded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126480" y="365760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1A2340">
              <a:alpha val="20000"/>
            </a:srgbClr>
          </a:solidFill>
          <a:ln w="12700">
            <a:solidFill>
              <a:srgbClr val="2A3F6A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4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291072" y="3767328"/>
            <a:ext cx="274320" cy="274320"/>
          </a:xfrm>
          <a:prstGeom prst="oval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91072" y="37673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F1E"/>
                </a:solidFill>
              </a:rPr>
              <a:t>✓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656832" y="37490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Ready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6291072" y="4142232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/ Pickle / API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"/>
          </a:xfrm>
          <a:prstGeom prst="rect">
            <a:avLst/>
          </a:prstGeom>
          <a:solidFill>
            <a:srgbClr val="1E3060">
              <a:alpha val="30000"/>
            </a:srgbClr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0"/>
            <a:ext cx="9144000" cy="4572"/>
          </a:xfrm>
          <a:prstGeom prst="rect">
            <a:avLst/>
          </a:prstGeom>
          <a:solidFill>
            <a:srgbClr val="1E3060">
              <a:alpha val="30000"/>
            </a:srgbClr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194560"/>
            <a:ext cx="9144000" cy="4572"/>
          </a:xfrm>
          <a:prstGeom prst="rect">
            <a:avLst/>
          </a:prstGeom>
          <a:solidFill>
            <a:srgbClr val="1E3060">
              <a:alpha val="30000"/>
            </a:srgbClr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3291840"/>
            <a:ext cx="9144000" cy="4572"/>
          </a:xfrm>
          <a:prstGeom prst="rect">
            <a:avLst/>
          </a:prstGeom>
          <a:solidFill>
            <a:srgbClr val="1E3060">
              <a:alpha val="30000"/>
            </a:srgbClr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389120"/>
            <a:ext cx="9144000" cy="4572"/>
          </a:xfrm>
          <a:prstGeom prst="rect">
            <a:avLst/>
          </a:prstGeom>
          <a:solidFill>
            <a:srgbClr val="1E3060">
              <a:alpha val="30000"/>
            </a:srgbClr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82880"/>
            <a:ext cx="1371600" cy="256032"/>
          </a:xfrm>
          <a:prstGeom prst="roundRect">
            <a:avLst>
              <a:gd name="adj" fmla="val 25000"/>
            </a:avLst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828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F1E"/>
                </a:solidFill>
              </a:rPr>
              <a:t>TECH STACK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5486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Production, Not Academia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274320" y="1234440"/>
            <a:ext cx="2011680" cy="3657600"/>
          </a:xfrm>
          <a:prstGeom prst="roundRect">
            <a:avLst>
              <a:gd name="adj" fmla="val 5455"/>
            </a:avLst>
          </a:prstGeom>
          <a:solidFill>
            <a:srgbClr val="1A2340">
              <a:alpha val="20000"/>
            </a:srgbClr>
          </a:solidFill>
          <a:ln w="12700">
            <a:solidFill>
              <a:srgbClr val="2A3F6A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87552" y="1325880"/>
            <a:ext cx="594360" cy="594360"/>
          </a:xfrm>
          <a:prstGeom prst="oval">
            <a:avLst/>
          </a:prstGeom>
          <a:solidFill>
            <a:srgbClr val="00E5A0">
              <a:alpha val="30000"/>
            </a:srgbClr>
          </a:solidFill>
          <a:ln w="25400">
            <a:solidFill>
              <a:srgbClr val="00E5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13258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🖥️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74320" y="20116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2377440"/>
            <a:ext cx="1097280" cy="36576"/>
          </a:xfrm>
          <a:prstGeom prst="rect">
            <a:avLst/>
          </a:prstGeom>
          <a:solidFill>
            <a:srgbClr val="00E5A0">
              <a:alpha val="60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2514600"/>
            <a:ext cx="1737360" cy="658368"/>
          </a:xfrm>
          <a:prstGeom prst="roundRect">
            <a:avLst>
              <a:gd name="adj" fmla="val 9722"/>
            </a:avLst>
          </a:prstGeom>
          <a:solidFill>
            <a:srgbClr val="0D1829">
              <a:alpha val="80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5603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286207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framework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1480" y="3319272"/>
            <a:ext cx="1737360" cy="658368"/>
          </a:xfrm>
          <a:prstGeom prst="roundRect">
            <a:avLst>
              <a:gd name="adj" fmla="val 9722"/>
            </a:avLst>
          </a:prstGeom>
          <a:solidFill>
            <a:srgbClr val="0D1829">
              <a:alpha val="80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36499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366674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Utility-first CSS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11480" y="4123944"/>
            <a:ext cx="1737360" cy="658368"/>
          </a:xfrm>
          <a:prstGeom prst="roundRect">
            <a:avLst>
              <a:gd name="adj" fmla="val 9722"/>
            </a:avLst>
          </a:prstGeom>
          <a:solidFill>
            <a:srgbClr val="0D1829">
              <a:alpha val="80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16966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47141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468880" y="1234440"/>
            <a:ext cx="2011680" cy="3657600"/>
          </a:xfrm>
          <a:prstGeom prst="roundRect">
            <a:avLst>
              <a:gd name="adj" fmla="val 5455"/>
            </a:avLst>
          </a:prstGeom>
          <a:solidFill>
            <a:srgbClr val="1A2340">
              <a:alpha val="20000"/>
            </a:srgbClr>
          </a:solidFill>
          <a:ln w="12700">
            <a:solidFill>
              <a:srgbClr val="2A3F6A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4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82112" y="1325880"/>
            <a:ext cx="594360" cy="594360"/>
          </a:xfrm>
          <a:prstGeom prst="oval">
            <a:avLst/>
          </a:prstGeom>
          <a:solidFill>
            <a:srgbClr val="00C6FF">
              <a:alpha val="30000"/>
            </a:srgbClr>
          </a:solidFill>
          <a:ln w="25400">
            <a:solidFill>
              <a:srgbClr val="00C6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82112" y="13258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⚙️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468880" y="20116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926080" y="2377440"/>
            <a:ext cx="1097280" cy="36576"/>
          </a:xfrm>
          <a:prstGeom prst="rect">
            <a:avLst/>
          </a:prstGeom>
          <a:solidFill>
            <a:srgbClr val="00C6FF">
              <a:alpha val="60000"/>
            </a:srgbClr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606040" y="2514600"/>
            <a:ext cx="1737360" cy="658368"/>
          </a:xfrm>
          <a:prstGeom prst="roundRect">
            <a:avLst>
              <a:gd name="adj" fmla="val 9722"/>
            </a:avLst>
          </a:prstGeom>
          <a:solidFill>
            <a:srgbClr val="0D1829">
              <a:alpha val="80000"/>
            </a:srgbClr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25603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651760" y="286207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REST API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606040" y="3319272"/>
            <a:ext cx="1737360" cy="658368"/>
          </a:xfrm>
          <a:prstGeom prst="roundRect">
            <a:avLst>
              <a:gd name="adj" fmla="val 9722"/>
            </a:avLst>
          </a:prstGeom>
          <a:solidFill>
            <a:srgbClr val="0D1829">
              <a:alpha val="80000"/>
            </a:srgbClr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51760" y="336499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651760" y="366674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queues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606040" y="4123944"/>
            <a:ext cx="1737360" cy="658368"/>
          </a:xfrm>
          <a:prstGeom prst="roundRect">
            <a:avLst>
              <a:gd name="adj" fmla="val 9722"/>
            </a:avLst>
          </a:prstGeom>
          <a:solidFill>
            <a:srgbClr val="0D1829">
              <a:alpha val="80000"/>
            </a:srgbClr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51760" y="416966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651760" y="447141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 layer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663440" y="1234440"/>
            <a:ext cx="2011680" cy="3657600"/>
          </a:xfrm>
          <a:prstGeom prst="roundRect">
            <a:avLst>
              <a:gd name="adj" fmla="val 5455"/>
            </a:avLst>
          </a:prstGeom>
          <a:solidFill>
            <a:srgbClr val="1A2340">
              <a:alpha val="20000"/>
            </a:srgbClr>
          </a:solidFill>
          <a:ln w="12700">
            <a:solidFill>
              <a:srgbClr val="2A3F6A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4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376672" y="1325880"/>
            <a:ext cx="594360" cy="594360"/>
          </a:xfrm>
          <a:prstGeom prst="oval">
            <a:avLst/>
          </a:prstGeom>
          <a:solidFill>
            <a:srgbClr val="7B61FF">
              <a:alpha val="30000"/>
            </a:srgbClr>
          </a:solidFill>
          <a:ln w="25400">
            <a:solidFill>
              <a:srgbClr val="7B61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76672" y="13258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🧠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663440" y="20116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&amp; AI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5120640" y="2377440"/>
            <a:ext cx="1097280" cy="36576"/>
          </a:xfrm>
          <a:prstGeom prst="rect">
            <a:avLst/>
          </a:prstGeom>
          <a:solidFill>
            <a:srgbClr val="7B61FF">
              <a:alpha val="60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800600" y="2514600"/>
            <a:ext cx="1737360" cy="658368"/>
          </a:xfrm>
          <a:prstGeom prst="roundRect">
            <a:avLst>
              <a:gd name="adj" fmla="val 9722"/>
            </a:avLst>
          </a:prstGeom>
          <a:solidFill>
            <a:srgbClr val="0D1829">
              <a:alpha val="80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46320" y="25603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846320" y="286207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800600" y="3319272"/>
            <a:ext cx="1737360" cy="658368"/>
          </a:xfrm>
          <a:prstGeom prst="roundRect">
            <a:avLst>
              <a:gd name="adj" fmla="val 9722"/>
            </a:avLst>
          </a:prstGeom>
          <a:solidFill>
            <a:srgbClr val="0D1829">
              <a:alpha val="80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46320" y="336499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846320" y="366674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transformers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800600" y="4123944"/>
            <a:ext cx="1737360" cy="658368"/>
          </a:xfrm>
          <a:prstGeom prst="roundRect">
            <a:avLst>
              <a:gd name="adj" fmla="val 9722"/>
            </a:avLst>
          </a:prstGeom>
          <a:solidFill>
            <a:srgbClr val="0D1829">
              <a:alpha val="80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46320" y="416966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846320" y="447141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ML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858000" y="1234440"/>
            <a:ext cx="2011680" cy="3657600"/>
          </a:xfrm>
          <a:prstGeom prst="roundRect">
            <a:avLst>
              <a:gd name="adj" fmla="val 5455"/>
            </a:avLst>
          </a:prstGeom>
          <a:solidFill>
            <a:srgbClr val="1A2340">
              <a:alpha val="20000"/>
            </a:srgbClr>
          </a:solidFill>
          <a:ln w="12700">
            <a:solidFill>
              <a:srgbClr val="2A3F6A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4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7571232" y="1325880"/>
            <a:ext cx="594360" cy="594360"/>
          </a:xfrm>
          <a:prstGeom prst="oval">
            <a:avLst/>
          </a:prstGeom>
          <a:solidFill>
            <a:srgbClr val="FFD166">
              <a:alpha val="30000"/>
            </a:srgbClr>
          </a:solidFill>
          <a:ln w="25400">
            <a:solidFill>
              <a:srgbClr val="FFD16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571232" y="13258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☁️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858000" y="20116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7315200" y="2377440"/>
            <a:ext cx="1097280" cy="36576"/>
          </a:xfrm>
          <a:prstGeom prst="rect">
            <a:avLst/>
          </a:prstGeom>
          <a:solidFill>
            <a:srgbClr val="FFD166">
              <a:alpha val="6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995160" y="2514600"/>
            <a:ext cx="1737360" cy="658368"/>
          </a:xfrm>
          <a:prstGeom prst="roundRect">
            <a:avLst>
              <a:gd name="adj" fmla="val 9722"/>
            </a:avLst>
          </a:prstGeom>
          <a:solidFill>
            <a:srgbClr val="0D1829">
              <a:alpha val="8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040880" y="25603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7040880" y="286207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Containerization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995160" y="3319272"/>
            <a:ext cx="1737360" cy="658368"/>
          </a:xfrm>
          <a:prstGeom prst="roundRect">
            <a:avLst>
              <a:gd name="adj" fmla="val 9722"/>
            </a:avLst>
          </a:prstGeom>
          <a:solidFill>
            <a:srgbClr val="0D1829">
              <a:alpha val="8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040880" y="336499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 / GCP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7040880" y="366674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compute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995160" y="4123944"/>
            <a:ext cx="1737360" cy="658368"/>
          </a:xfrm>
          <a:prstGeom prst="roundRect">
            <a:avLst>
              <a:gd name="adj" fmla="val 9722"/>
            </a:avLst>
          </a:prstGeom>
          <a:solidFill>
            <a:srgbClr val="0D1829">
              <a:alpha val="8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040880" y="416966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GPU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7040880" y="447141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training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"/>
          </a:xfrm>
          <a:prstGeom prst="rect">
            <a:avLst/>
          </a:prstGeom>
          <a:solidFill>
            <a:srgbClr val="1E3060">
              <a:alpha val="30000"/>
            </a:srgbClr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0"/>
            <a:ext cx="9144000" cy="4572"/>
          </a:xfrm>
          <a:prstGeom prst="rect">
            <a:avLst/>
          </a:prstGeom>
          <a:solidFill>
            <a:srgbClr val="1E3060">
              <a:alpha val="30000"/>
            </a:srgbClr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194560"/>
            <a:ext cx="9144000" cy="4572"/>
          </a:xfrm>
          <a:prstGeom prst="rect">
            <a:avLst/>
          </a:prstGeom>
          <a:solidFill>
            <a:srgbClr val="1E3060">
              <a:alpha val="30000"/>
            </a:srgbClr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3291840"/>
            <a:ext cx="9144000" cy="4572"/>
          </a:xfrm>
          <a:prstGeom prst="rect">
            <a:avLst/>
          </a:prstGeom>
          <a:solidFill>
            <a:srgbClr val="1E3060">
              <a:alpha val="30000"/>
            </a:srgbClr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389120"/>
            <a:ext cx="9144000" cy="4572"/>
          </a:xfrm>
          <a:prstGeom prst="rect">
            <a:avLst/>
          </a:prstGeom>
          <a:solidFill>
            <a:srgbClr val="1E3060">
              <a:alpha val="30000"/>
            </a:srgbClr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82880"/>
            <a:ext cx="1371600" cy="256032"/>
          </a:xfrm>
          <a:prstGeom prst="roundRect">
            <a:avLst>
              <a:gd name="adj" fmla="val 25000"/>
            </a:avLst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828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F1E"/>
                </a:solidFill>
              </a:rPr>
              <a:t>BUSINESS MODEL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5486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SaaS + Usage Revenue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274320" y="1234440"/>
            <a:ext cx="4023360" cy="3794760"/>
          </a:xfrm>
          <a:prstGeom prst="roundRect">
            <a:avLst>
              <a:gd name="adj" fmla="val 2892"/>
            </a:avLst>
          </a:prstGeom>
          <a:solidFill>
            <a:srgbClr val="1A2340">
              <a:alpha val="20000"/>
            </a:srgbClr>
          </a:solidFill>
          <a:ln w="12700">
            <a:solidFill>
              <a:srgbClr val="2A3F6A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135331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Model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11480" y="1828800"/>
            <a:ext cx="3749040" cy="502920"/>
          </a:xfrm>
          <a:prstGeom prst="roundRect">
            <a:avLst>
              <a:gd name="adj" fmla="val 12727"/>
            </a:avLst>
          </a:prstGeom>
          <a:solidFill>
            <a:srgbClr val="0D1829">
              <a:alpha val="90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82880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737360" y="18288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monthly subscriptions from all tiers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2432304"/>
            <a:ext cx="3749040" cy="502920"/>
          </a:xfrm>
          <a:prstGeom prst="roundRect">
            <a:avLst>
              <a:gd name="adj" fmla="val 12727"/>
            </a:avLst>
          </a:prstGeom>
          <a:solidFill>
            <a:srgbClr val="0D1829">
              <a:alpha val="90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432304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Top-ups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737360" y="2432304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credit purchases beyond plan limits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3035808"/>
            <a:ext cx="3749040" cy="502920"/>
          </a:xfrm>
          <a:prstGeom prst="roundRect">
            <a:avLst>
              <a:gd name="adj" fmla="val 12727"/>
            </a:avLst>
          </a:prstGeom>
          <a:solidFill>
            <a:srgbClr val="0D1829">
              <a:alpha val="90000"/>
            </a:srgbClr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035808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 Volume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737360" y="303580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&amp; devs at scale — high acquisition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3639312"/>
            <a:ext cx="3749040" cy="502920"/>
          </a:xfrm>
          <a:prstGeom prst="roundRect">
            <a:avLst>
              <a:gd name="adj" fmla="val 12727"/>
            </a:avLst>
          </a:prstGeom>
          <a:solidFill>
            <a:srgbClr val="0D1829">
              <a:alpha val="9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639312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High-Ticket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737360" y="363931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contracts for startups &amp; enterprises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11480" y="4242816"/>
            <a:ext cx="3749040" cy="502920"/>
          </a:xfrm>
          <a:prstGeom prst="roundRect">
            <a:avLst>
              <a:gd name="adj" fmla="val 12727"/>
            </a:avLst>
          </a:prstGeom>
          <a:solidFill>
            <a:srgbClr val="0D1829">
              <a:alpha val="90000"/>
            </a:srgbClr>
          </a:solidFill>
          <a:ln w="12700">
            <a:solidFill>
              <a:srgbClr val="FF4D6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242816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Margin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737360" y="4242816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spin-up = high efficiency, low waste</a:t>
            </a:r>
            <a:endParaRPr lang="en-US" sz="1000" dirty="0"/>
          </a:p>
        </p:txBody>
      </p:sp>
      <p:graphicFrame>
        <p:nvGraphicFramePr>
          <p:cNvPr id="27" name="Chart 0" descr=""/>
          <p:cNvGraphicFramePr/>
          <p:nvPr/>
        </p:nvGraphicFramePr>
        <p:xfrm>
          <a:off x="4572000" y="1234440"/>
          <a:ext cx="429768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"/>
          </a:xfrm>
          <a:prstGeom prst="rect">
            <a:avLst/>
          </a:prstGeom>
          <a:solidFill>
            <a:srgbClr val="1E3060">
              <a:alpha val="30000"/>
            </a:srgbClr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0"/>
            <a:ext cx="9144000" cy="4572"/>
          </a:xfrm>
          <a:prstGeom prst="rect">
            <a:avLst/>
          </a:prstGeom>
          <a:solidFill>
            <a:srgbClr val="1E3060">
              <a:alpha val="30000"/>
            </a:srgbClr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194560"/>
            <a:ext cx="9144000" cy="4572"/>
          </a:xfrm>
          <a:prstGeom prst="rect">
            <a:avLst/>
          </a:prstGeom>
          <a:solidFill>
            <a:srgbClr val="1E3060">
              <a:alpha val="30000"/>
            </a:srgbClr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3291840"/>
            <a:ext cx="9144000" cy="4572"/>
          </a:xfrm>
          <a:prstGeom prst="rect">
            <a:avLst/>
          </a:prstGeom>
          <a:solidFill>
            <a:srgbClr val="1E3060">
              <a:alpha val="30000"/>
            </a:srgbClr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389120"/>
            <a:ext cx="9144000" cy="4572"/>
          </a:xfrm>
          <a:prstGeom prst="rect">
            <a:avLst/>
          </a:prstGeom>
          <a:solidFill>
            <a:srgbClr val="1E3060">
              <a:alpha val="30000"/>
            </a:srgbClr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82880"/>
            <a:ext cx="1371600" cy="256032"/>
          </a:xfrm>
          <a:prstGeom prst="roundRect">
            <a:avLst>
              <a:gd name="adj" fmla="val 25000"/>
            </a:avLst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828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F1E"/>
                </a:solidFill>
              </a:rPr>
              <a:t>ROADMAP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5486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Road Ahead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640080" y="2542032"/>
            <a:ext cx="7863840" cy="45720"/>
          </a:xfrm>
          <a:prstGeom prst="rect">
            <a:avLst/>
          </a:prstGeom>
          <a:solidFill>
            <a:srgbClr val="1E3060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3000" y="2404872"/>
            <a:ext cx="320040" cy="320040"/>
          </a:xfrm>
          <a:prstGeom prst="oval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  <a:effectLst>
            <a:outerShdw sx="100000" sy="100000" kx="0" ky="0" algn="bl" rotWithShape="0" blurRad="127000" dist="50800" dir="2700000">
              <a:srgbClr val="00E5A0">
                <a:alpha val="5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9202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834640"/>
            <a:ext cx="1920240" cy="2148840"/>
          </a:xfrm>
          <a:prstGeom prst="roundRect">
            <a:avLst>
              <a:gd name="adj" fmla="val 5714"/>
            </a:avLst>
          </a:prstGeom>
          <a:solidFill>
            <a:srgbClr val="1A2340">
              <a:alpha val="20000"/>
            </a:srgbClr>
          </a:solidFill>
          <a:ln w="12700">
            <a:solidFill>
              <a:srgbClr val="2A3F6A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83464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00E5A0">
              <a:alpha val="30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8346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Training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337560"/>
            <a:ext cx="109728" cy="109728"/>
          </a:xfrm>
          <a:prstGeom prst="oval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264408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training updates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" y="3840480"/>
            <a:ext cx="109728" cy="109728"/>
          </a:xfrm>
          <a:prstGeom prst="oval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767328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export pipeline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2920" y="4343400"/>
            <a:ext cx="109728" cy="109728"/>
          </a:xfrm>
          <a:prstGeom prst="oval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4270248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leaderboards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46120" y="2404872"/>
            <a:ext cx="320040" cy="320040"/>
          </a:xfrm>
          <a:prstGeom prst="oval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  <a:effectLst>
            <a:outerShdw sx="100000" sy="100000" kx="0" ky="0" algn="bl" rotWithShape="0" blurRad="127000" dist="50800" dir="2700000">
              <a:srgbClr val="00C6FF">
                <a:alpha val="5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468880" y="19202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468880" y="2834640"/>
            <a:ext cx="1920240" cy="2148840"/>
          </a:xfrm>
          <a:prstGeom prst="roundRect">
            <a:avLst>
              <a:gd name="adj" fmla="val 5714"/>
            </a:avLst>
          </a:prstGeom>
          <a:solidFill>
            <a:srgbClr val="1A2340">
              <a:alpha val="20000"/>
            </a:srgbClr>
          </a:solidFill>
          <a:ln w="12700">
            <a:solidFill>
              <a:srgbClr val="2A3F6A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4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468880" y="283464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00C6FF">
              <a:alpha val="30000"/>
            </a:srgbClr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68880" y="28346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Connectors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606040" y="3337560"/>
            <a:ext cx="109728" cy="109728"/>
          </a:xfrm>
          <a:prstGeom prst="oval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88920" y="3264408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&amp; Snowflake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606040" y="3840480"/>
            <a:ext cx="109728" cy="109728"/>
          </a:xfrm>
          <a:prstGeom prst="oval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88920" y="3767328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direct import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606040" y="4343400"/>
            <a:ext cx="109728" cy="109728"/>
          </a:xfrm>
          <a:prstGeom prst="oval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88920" y="4270248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auto-detection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349240" y="2404872"/>
            <a:ext cx="320040" cy="320040"/>
          </a:xfrm>
          <a:prstGeom prst="oval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  <a:effectLst>
            <a:outerShdw sx="100000" sy="100000" kx="0" ky="0" algn="bl" rotWithShape="0" blurRad="127000" dist="50800" dir="2700000">
              <a:srgbClr val="7B61FF">
                <a:alpha val="5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572000" y="19202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0" y="2834640"/>
            <a:ext cx="1920240" cy="2148840"/>
          </a:xfrm>
          <a:prstGeom prst="roundRect">
            <a:avLst>
              <a:gd name="adj" fmla="val 5714"/>
            </a:avLst>
          </a:prstGeom>
          <a:solidFill>
            <a:srgbClr val="1A2340">
              <a:alpha val="20000"/>
            </a:srgbClr>
          </a:solidFill>
          <a:ln w="12700">
            <a:solidFill>
              <a:srgbClr val="2A3F6A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4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572000" y="283464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7B61FF">
              <a:alpha val="30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0" y="28346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Recommendations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709160" y="3337560"/>
            <a:ext cx="109728" cy="109728"/>
          </a:xfrm>
          <a:prstGeom prst="oval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3264408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AI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709160" y="3840480"/>
            <a:ext cx="109728" cy="109728"/>
          </a:xfrm>
          <a:prstGeom prst="oval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92040" y="3767328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sharing marketplace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709160" y="4343400"/>
            <a:ext cx="109728" cy="109728"/>
          </a:xfrm>
          <a:prstGeom prst="oval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92040" y="4270248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workspaces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452360" y="2404872"/>
            <a:ext cx="320040" cy="320040"/>
          </a:xfrm>
          <a:prstGeom prst="oval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  <a:effectLst>
            <a:outerShdw sx="100000" sy="100000" kx="0" ky="0" algn="bl" rotWithShape="0" blurRad="127000" dist="50800" dir="2700000">
              <a:srgbClr val="FFD166">
                <a:alpha val="5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675120" y="19202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675120" y="2834640"/>
            <a:ext cx="1920240" cy="2148840"/>
          </a:xfrm>
          <a:prstGeom prst="roundRect">
            <a:avLst>
              <a:gd name="adj" fmla="val 5714"/>
            </a:avLst>
          </a:prstGeom>
          <a:solidFill>
            <a:srgbClr val="1A2340">
              <a:alpha val="20000"/>
            </a:srgbClr>
          </a:solidFill>
          <a:ln w="12700">
            <a:solidFill>
              <a:srgbClr val="2A3F6A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4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675120" y="283464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FFD166">
              <a:alpha val="3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675120" y="28346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&amp; Agents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812280" y="3337560"/>
            <a:ext cx="109728" cy="109728"/>
          </a:xfrm>
          <a:prstGeom prst="oval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995160" y="3264408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analytics dashboards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812280" y="3840480"/>
            <a:ext cx="109728" cy="109728"/>
          </a:xfrm>
          <a:prstGeom prst="oval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995160" y="3767328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AI Agents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812280" y="4343400"/>
            <a:ext cx="109728" cy="109728"/>
          </a:xfrm>
          <a:prstGeom prst="oval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995160" y="4270248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model deployment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"/>
          </a:xfrm>
          <a:prstGeom prst="rect">
            <a:avLst/>
          </a:prstGeom>
          <a:solidFill>
            <a:srgbClr val="1E3060">
              <a:alpha val="30000"/>
            </a:srgbClr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0"/>
            <a:ext cx="9144000" cy="4572"/>
          </a:xfrm>
          <a:prstGeom prst="rect">
            <a:avLst/>
          </a:prstGeom>
          <a:solidFill>
            <a:srgbClr val="1E3060">
              <a:alpha val="30000"/>
            </a:srgbClr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194560"/>
            <a:ext cx="9144000" cy="4572"/>
          </a:xfrm>
          <a:prstGeom prst="rect">
            <a:avLst/>
          </a:prstGeom>
          <a:solidFill>
            <a:srgbClr val="1E3060">
              <a:alpha val="30000"/>
            </a:srgbClr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3291840"/>
            <a:ext cx="9144000" cy="4572"/>
          </a:xfrm>
          <a:prstGeom prst="rect">
            <a:avLst/>
          </a:prstGeom>
          <a:solidFill>
            <a:srgbClr val="1E3060">
              <a:alpha val="30000"/>
            </a:srgbClr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389120"/>
            <a:ext cx="9144000" cy="4572"/>
          </a:xfrm>
          <a:prstGeom prst="rect">
            <a:avLst/>
          </a:prstGeom>
          <a:solidFill>
            <a:srgbClr val="1E3060">
              <a:alpha val="30000"/>
            </a:srgbClr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-457200"/>
            <a:ext cx="3657600" cy="3657600"/>
          </a:xfrm>
          <a:prstGeom prst="oval">
            <a:avLst/>
          </a:prstGeom>
          <a:solidFill>
            <a:srgbClr val="7B61FF">
              <a:alpha val="12000"/>
            </a:srgbClr>
          </a:solidFill>
          <a:ln w="12700">
            <a:solidFill>
              <a:srgbClr val="7B61FF"/>
            </a:solidFill>
            <a:prstDash val="solid"/>
          </a:ln>
          <a:effectLst>
            <a:outerShdw sx="100000" sy="100000" kx="0" ky="0" algn="bl" rotWithShape="0" blurRad="762000" dist="50800" dir="2700000">
              <a:srgbClr val="7B61FF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0" y="2286000"/>
            <a:ext cx="3657600" cy="3657600"/>
          </a:xfrm>
          <a:prstGeom prst="oval">
            <a:avLst/>
          </a:prstGeom>
          <a:solidFill>
            <a:srgbClr val="00E5A0">
              <a:alpha val="10000"/>
            </a:srgbClr>
          </a:solidFill>
          <a:ln w="12700">
            <a:solidFill>
              <a:srgbClr val="00E5A0"/>
            </a:solidFill>
            <a:prstDash val="solid"/>
          </a:ln>
          <a:effectLst>
            <a:outerShdw sx="100000" sy="100000" kx="0" ky="0" algn="bl" rotWithShape="0" blurRad="762000" dist="50800" dir="2700000">
              <a:srgbClr val="00E5A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97280" y="457200"/>
            <a:ext cx="6949440" cy="4206240"/>
          </a:xfrm>
          <a:prstGeom prst="roundRect">
            <a:avLst>
              <a:gd name="adj" fmla="val 2609"/>
            </a:avLst>
          </a:prstGeom>
          <a:solidFill>
            <a:srgbClr val="1A2340">
              <a:alpha val="18000"/>
            </a:srgbClr>
          </a:solidFill>
          <a:ln w="12700">
            <a:solidFill>
              <a:srgbClr val="2A3F6A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977640" y="59436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🚀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1280160" y="1280160"/>
            <a:ext cx="6583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the Gap Between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and Intelligence.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3200400" y="2487168"/>
            <a:ext cx="2743200" cy="36576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80160" y="2606040"/>
            <a:ext cx="6583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Datalyze transforms raw data into AI-ready solutions in minutes, making advanced data science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practical, affordable, and accessible for everyone.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017520" y="3493008"/>
            <a:ext cx="3108960" cy="566928"/>
          </a:xfrm>
          <a:prstGeom prst="roundRect">
            <a:avLst>
              <a:gd name="adj" fmla="val 19355"/>
            </a:avLst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  <a:effectLst>
            <a:outerShdw sx="100000" sy="100000" kx="0" ky="0" algn="bl" rotWithShape="0" blurRad="254000" dist="25400" dir="2700000">
              <a:srgbClr val="00E5A0">
                <a:alpha val="5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017520" y="3493008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build the future of AI?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80160" y="420624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contact@datalyze.ai  ·  linkedin.com/company/datalyze  ·  datalyze.ai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Datalyze. All rights reserved.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Datalyze – Investor Pitch Deck 2026</dc:title>
  <dc:subject>PptxGenJS Presentation</dc:subject>
  <dc:creator>PptxGenJS</dc:creator>
  <cp:lastModifiedBy>PptxGenJS</cp:lastModifiedBy>
  <cp:revision>1</cp:revision>
  <dcterms:created xsi:type="dcterms:W3CDTF">2026-06-28T19:19:10Z</dcterms:created>
  <dcterms:modified xsi:type="dcterms:W3CDTF">2026-06-28T19:19:10Z</dcterms:modified>
</cp:coreProperties>
</file>